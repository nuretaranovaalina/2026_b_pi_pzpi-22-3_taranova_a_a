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C63126-1F6E-41E4-972C-3896C11919A9}" type="datetimeFigureOut">
              <a:rPr lang="LID4096" smtClean="0"/>
              <a:t>07/08/2026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BCB1D9-ED3F-4D94-B770-38867DD82F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37501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0AAC6-F446-705F-AB45-B835D60EB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85BAAB4-C20C-9F6D-5BB7-333A3096E3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6F71E2-6EB6-FFB5-7C49-94C3F6004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ECD1C-EFAF-449F-8C27-C243942EE056}" type="datetime1">
              <a:rPr lang="LID4096" smtClean="0"/>
              <a:t>07/08/2026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50FB15-3ACA-EA67-FB71-A833B1215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1EE67E-EA47-A2DD-2EAA-84D5CA82D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25C68-40CF-4EF4-87C4-8EAE679E379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90372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9C5649-7522-E899-1C40-F375E5D5E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BA9AB5-DE79-F960-36D3-3FFC69A14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D81647-1886-B853-61D1-C63487029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D6CD9-C277-4CE7-A370-E7DAFF33CA46}" type="datetime1">
              <a:rPr lang="LID4096" smtClean="0"/>
              <a:t>07/08/2026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348F25-7B96-1BF1-6BF5-082E6E1DF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20825F-18AB-F907-985C-C3D756DF6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25C68-40CF-4EF4-87C4-8EAE679E379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82196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9D14F-AACD-694A-0450-A1CB88AC1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D2077F-F701-31F1-A645-5C02E1B9A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F3B2BB-84D2-2468-8649-0639EA1EB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A7093-1D48-45D7-9DD1-6B90F01D9056}" type="datetime1">
              <a:rPr lang="LID4096" smtClean="0"/>
              <a:t>07/08/2026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78F7B2-49DA-91F3-5FFF-2E6685148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3EE370-F3EF-734B-1487-249E51006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25C68-40CF-4EF4-87C4-8EAE679E379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53747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7D6C08-49D6-613C-EB78-E6A7513A5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07F026-4723-3ED5-F3D4-68E48E0F4E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FB5482-EA46-A773-FD91-FE38ECAE2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224101-9E49-697B-249F-9DCA02144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C48E-7005-447F-91A8-4361E85021F7}" type="datetime1">
              <a:rPr lang="LID4096" smtClean="0"/>
              <a:t>07/08/2026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FEACC5-9E7C-9C1B-A487-B55DA6557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09A73E3-F88D-8AF8-266A-CBED679B4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25C68-40CF-4EF4-87C4-8EAE679E379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97955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D9262-8D43-DFEE-B88F-EB0FF5ABA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A85DA0-CFF9-6918-E777-6E5B643A4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C8EB3E8-7BB7-4778-FECD-0CA2AA207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DC6C3ED-3CB9-BEA0-3CF2-CCAF62E370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B49F540-5251-C30A-54D7-2043D7A039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ADC75DC-D94D-4B65-A724-3E24B58D7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3D5FD-EE45-46B4-A619-203CBFB45095}" type="datetime1">
              <a:rPr lang="LID4096" smtClean="0"/>
              <a:t>07/08/2026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EF19E6C-6D9B-519B-0F8D-CF0AF8255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8D83305-97BA-DD1F-178A-0F11316AC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25C68-40CF-4EF4-87C4-8EAE679E379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38656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C18ECA-0DA2-EFDA-7AFE-CDF45F55C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9DD66C3-5786-0127-07C1-CFFD2B77A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9FCBE-B9CE-4DED-8F53-DABD1FD188A9}" type="datetime1">
              <a:rPr lang="LID4096" smtClean="0"/>
              <a:t>07/08/2026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9D163C5-04C0-DE23-F5E2-97BDE4336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5C4E239-D255-B911-30B4-DA79ED152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25C68-40CF-4EF4-87C4-8EAE679E379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06726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113DD7D-ADCB-A8BE-34D5-DF887DF48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58908-8D9C-459B-9F79-240E14EBB71E}" type="datetime1">
              <a:rPr lang="LID4096" smtClean="0"/>
              <a:t>07/08/2026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1B66401-6905-697B-D1FE-710DBB466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C44CC9-A80E-038A-46F4-75479B8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25C68-40CF-4EF4-87C4-8EAE679E379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45102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66C26-B74E-F467-12F8-4D779D568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55C8CF-CBED-6A1B-A179-C93E0841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EDADA0-58F9-4D79-5EDE-9DDBB3933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DBA3A50-886F-85B4-C269-0A04BD0AA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51E12-1075-427A-BC31-754993B8AB35}" type="datetime1">
              <a:rPr lang="LID4096" smtClean="0"/>
              <a:t>07/08/2026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30F27A-9961-6F46-0E9A-D9D6794AE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7EEBF9-7612-E889-9337-703590082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25C68-40CF-4EF4-87C4-8EAE679E379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3761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12B08E-07DB-3A02-CD6D-5399B58E1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4DF2640-9676-907E-2987-F14590A33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CA70BA7-AFBB-8170-448C-1D612FB20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3D2C01A-59C2-8798-0148-34C7E5914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E3D2E-9D82-499A-A9A3-68D9F7237AF6}" type="datetime1">
              <a:rPr lang="LID4096" smtClean="0"/>
              <a:t>07/08/2026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A990D0E-ADC4-6473-23E8-ABCC97831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B8E646-3AF1-AB16-787A-5AEC037BF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25C68-40CF-4EF4-87C4-8EAE679E379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23214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F68A65-3E6D-5066-1AAC-C61CB87BD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734AD6-2782-88F2-D956-EE4239093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A9FEB6-A71E-18DE-D200-AF6FA1751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FF6B-B951-48B3-898E-4354F619C5E5}" type="datetime1">
              <a:rPr lang="LID4096" smtClean="0"/>
              <a:t>07/08/2026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787956-4538-00AF-F5C7-B02D08600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B513AA-4CE0-3D23-F213-A8FA4828D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25C68-40CF-4EF4-87C4-8EAE679E379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3734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51D58EE-AF14-0005-0C9A-353CE1371E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BB2B9D-CF61-694D-07F8-7DF60E829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AC61D8-9D1E-1009-AFE2-F1DCAC33A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7699-4714-4F5F-8D9D-1B0DBDC628E9}" type="datetime1">
              <a:rPr lang="LID4096" smtClean="0"/>
              <a:t>07/08/2026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D5F682-56FA-4587-745E-B12CB9971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3762C2-8322-4DD8-D2C3-BDEE020B7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25C68-40CF-4EF4-87C4-8EAE679E379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80194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B5AA49-9EEB-51E9-B747-08BF59E27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EF63E2-1D0B-B27B-C07A-2E01D4CD7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CDFB97-5FC6-4F3F-556B-3847BD75D3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F603B7-D8AD-4BD1-BD1E-759DC1B78BF7}" type="datetime1">
              <a:rPr lang="LID4096" smtClean="0"/>
              <a:t>07/08/2026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696D8F-E0B5-D3EE-10F8-7C18D56323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84C304-9C78-413E-8BDB-E2EF3F9680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C25C68-40CF-4EF4-87C4-8EAE679E379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097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2.png"/><Relationship Id="rId7" Type="http://schemas.openxmlformats.org/officeDocument/2006/relationships/image" Target="../media/image1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2.png"/><Relationship Id="rId7" Type="http://schemas.openxmlformats.org/officeDocument/2006/relationships/image" Target="../media/image1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BF46F8-8300-81B0-478A-7F4659DED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73508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uk-UA" sz="3600" dirty="0"/>
              <a:t>Мобільний застосунок для навчання UX/UI дизайну з функцією автоматизованого ШІ-аналізу інтерфейсів</a:t>
            </a:r>
            <a:endParaRPr lang="LID4096" sz="3600" dirty="0">
              <a:latin typeface="Inter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6DA63FD6-59E7-1311-C321-20CFCB4CF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3CC41641-0463-7A04-ED99-245D10545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4FD53B0A-312E-ADBD-6161-36540FE1D6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B94B5A43-F2E9-91D9-B96F-18A3852B9CD3}"/>
              </a:ext>
            </a:extLst>
          </p:cNvPr>
          <p:cNvSpPr/>
          <p:nvPr/>
        </p:nvSpPr>
        <p:spPr>
          <a:xfrm>
            <a:off x="1597819" y="6195448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FE665F3-6F39-667E-BF2B-36DD0B110B27}"/>
              </a:ext>
            </a:extLst>
          </p:cNvPr>
          <p:cNvSpPr/>
          <p:nvPr/>
        </p:nvSpPr>
        <p:spPr>
          <a:xfrm>
            <a:off x="1524000" y="4559633"/>
            <a:ext cx="7739063" cy="238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b="1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Виконала:</a:t>
            </a:r>
            <a:r>
              <a:rPr lang="en-US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Таранова Аліна Андріївна, ПЗПІ-22-3</a:t>
            </a:r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D714314-10D7-3EA8-3B21-E76C1338C7B2}"/>
              </a:ext>
            </a:extLst>
          </p:cNvPr>
          <p:cNvSpPr/>
          <p:nvPr/>
        </p:nvSpPr>
        <p:spPr>
          <a:xfrm>
            <a:off x="1524000" y="4912058"/>
            <a:ext cx="7739063" cy="238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b="1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Керівник</a:t>
            </a:r>
            <a:r>
              <a:rPr lang="en-US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доц. кафедри ПІ </a:t>
            </a:r>
            <a:r>
              <a:rPr lang="uk-UA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Ірина </a:t>
            </a:r>
            <a:r>
              <a:rPr lang="uk-UA" kern="0" spc="-13" dirty="0" err="1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Груздо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781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849A4-B59F-2EDA-2392-5ACD7E3DB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8ADC40-52BA-621B-7D54-8FC9C478A2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6013" y="1288101"/>
            <a:ext cx="9144000" cy="514350"/>
          </a:xfrm>
        </p:spPr>
        <p:txBody>
          <a:bodyPr>
            <a:noAutofit/>
          </a:bodyPr>
          <a:lstStyle/>
          <a:p>
            <a:pPr algn="l"/>
            <a:r>
              <a:rPr lang="uk-UA" sz="3600" b="1" dirty="0"/>
              <a:t>Мета роботи</a:t>
            </a:r>
            <a:endParaRPr lang="" sz="3600" b="1" dirty="0">
              <a:latin typeface="Cormorant Garamond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4A1B6A9-536A-E737-1EA5-C8BDB2857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22018474-B98A-7521-13B4-57125034B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26309EED-DEEB-C7EC-BA95-83ADED5CB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730DD294-0365-B7F0-9999-25F5C8274016}"/>
              </a:ext>
            </a:extLst>
          </p:cNvPr>
          <p:cNvSpPr/>
          <p:nvPr/>
        </p:nvSpPr>
        <p:spPr>
          <a:xfrm>
            <a:off x="1597819" y="6195448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0E823F4-E18D-2FB9-54B2-431CCBDB5847}"/>
              </a:ext>
            </a:extLst>
          </p:cNvPr>
          <p:cNvSpPr/>
          <p:nvPr/>
        </p:nvSpPr>
        <p:spPr>
          <a:xfrm>
            <a:off x="1406013" y="1916098"/>
            <a:ext cx="9340645" cy="1116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sz="2400" dirty="0"/>
              <a:t>Мета розробки: створення мобільного застосунку, для навчання UX/UI дизайну з функцією ШІ-аналізу інтерфейсів.</a:t>
            </a:r>
            <a:endParaRPr lang="" sz="24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C4241009-6F62-353E-C098-DF7EC66EC245}"/>
              </a:ext>
            </a:extLst>
          </p:cNvPr>
          <p:cNvSpPr/>
          <p:nvPr/>
        </p:nvSpPr>
        <p:spPr>
          <a:xfrm>
            <a:off x="1406013" y="3146321"/>
            <a:ext cx="9340645" cy="22390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sz="2400" dirty="0"/>
              <a:t>Актуальність теми: сьогодні в Україні немає застосунку, який би вирішував задачі інтерактивного навчання UX/UI дизайну, використовував би сучасні технології штучного інтелекту для автоматизованого аналізу інтерфейсів та враховував би відповідність світовим принципам юзабіліті й цифрової доступності.</a:t>
            </a:r>
            <a:endParaRPr lang="" sz="2400" dirty="0"/>
          </a:p>
        </p:txBody>
      </p:sp>
    </p:spTree>
    <p:extLst>
      <p:ext uri="{BB962C8B-B14F-4D97-AF65-F5344CB8AC3E}">
        <p14:creationId xmlns:p14="http://schemas.microsoft.com/office/powerpoint/2010/main" val="328917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50661-34E9-9D3D-6AD2-D4B1844CA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09E021-99F7-17D5-049E-C614B7B88E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6013" y="1242032"/>
            <a:ext cx="9144000" cy="514350"/>
          </a:xfrm>
        </p:spPr>
        <p:txBody>
          <a:bodyPr>
            <a:noAutofit/>
          </a:bodyPr>
          <a:lstStyle/>
          <a:p>
            <a:pPr algn="l"/>
            <a:r>
              <a:rPr lang="uk-UA" sz="3600" b="1" dirty="0"/>
              <a:t>Аналіз предметної галузі</a:t>
            </a:r>
            <a:endParaRPr lang="" sz="3600" b="1" dirty="0">
              <a:latin typeface="Cormorant Garamond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04F8C8D5-5AE0-3373-2FB8-F176131CE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819A83DE-5C56-1833-2B31-ACEF88B2F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98467BD1-A5D8-DF97-E460-555EC81FA9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6386FCA3-E273-F8C5-BC54-398B04DE2AD0}"/>
              </a:ext>
            </a:extLst>
          </p:cNvPr>
          <p:cNvSpPr/>
          <p:nvPr/>
        </p:nvSpPr>
        <p:spPr>
          <a:xfrm>
            <a:off x="1597819" y="6195448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E64CF7E-B970-6D1A-5E82-DD7D28A39C65}"/>
              </a:ext>
            </a:extLst>
          </p:cNvPr>
          <p:cNvSpPr/>
          <p:nvPr/>
        </p:nvSpPr>
        <p:spPr>
          <a:xfrm>
            <a:off x="1406013" y="1756382"/>
            <a:ext cx="9340645" cy="1116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sz="2400" dirty="0"/>
              <a:t>Розглянуті існуючі аналоги: </a:t>
            </a:r>
            <a:r>
              <a:rPr lang="uk-UA" sz="2400" dirty="0" err="1"/>
              <a:t>Figma</a:t>
            </a:r>
            <a:r>
              <a:rPr lang="uk-UA" sz="2400" dirty="0"/>
              <a:t> </a:t>
            </a:r>
            <a:r>
              <a:rPr lang="uk-UA" sz="2400" dirty="0" err="1"/>
              <a:t>Learn</a:t>
            </a:r>
            <a:r>
              <a:rPr lang="uk-UA" sz="2400" dirty="0"/>
              <a:t> та </a:t>
            </a:r>
            <a:r>
              <a:rPr lang="uk-UA" sz="2400" dirty="0" err="1"/>
              <a:t>Figma</a:t>
            </a:r>
            <a:r>
              <a:rPr lang="uk-UA" sz="2400" dirty="0"/>
              <a:t> </a:t>
            </a:r>
            <a:r>
              <a:rPr lang="uk-UA" sz="2400" dirty="0" err="1"/>
              <a:t>Community</a:t>
            </a:r>
            <a:r>
              <a:rPr lang="uk-UA" sz="2400" dirty="0"/>
              <a:t>, </a:t>
            </a:r>
            <a:r>
              <a:rPr lang="uk-UA" sz="2400" dirty="0" err="1"/>
              <a:t>Coursera</a:t>
            </a:r>
            <a:r>
              <a:rPr lang="uk-UA" sz="2400" dirty="0"/>
              <a:t> та </a:t>
            </a:r>
            <a:r>
              <a:rPr lang="uk-UA" sz="2400" dirty="0" err="1"/>
              <a:t>Udemy</a:t>
            </a:r>
            <a:r>
              <a:rPr lang="uk-UA" sz="2400" dirty="0"/>
              <a:t>, </a:t>
            </a:r>
            <a:r>
              <a:rPr lang="uk-UA" sz="2400" dirty="0" err="1"/>
              <a:t>Uxcel</a:t>
            </a:r>
            <a:r>
              <a:rPr lang="uk-UA" sz="2400" dirty="0"/>
              <a:t> </a:t>
            </a:r>
            <a:r>
              <a:rPr lang="uk-UA" sz="2400" dirty="0" err="1"/>
              <a:t>Go</a:t>
            </a:r>
            <a:r>
              <a:rPr lang="uk-UA" sz="2400" dirty="0"/>
              <a:t>, </a:t>
            </a:r>
            <a:r>
              <a:rPr lang="uk-UA" sz="2400" dirty="0" err="1"/>
              <a:t>Google</a:t>
            </a:r>
            <a:r>
              <a:rPr lang="uk-UA" sz="2400" dirty="0"/>
              <a:t> UX </a:t>
            </a:r>
            <a:r>
              <a:rPr lang="uk-UA" sz="2400" dirty="0" err="1"/>
              <a:t>Design</a:t>
            </a:r>
            <a:r>
              <a:rPr lang="uk-UA" sz="2400" dirty="0"/>
              <a:t> </a:t>
            </a:r>
            <a:r>
              <a:rPr lang="uk-UA" sz="2400" dirty="0" err="1"/>
              <a:t>Certificate</a:t>
            </a:r>
            <a:r>
              <a:rPr lang="uk-UA" sz="2400" dirty="0"/>
              <a:t>   </a:t>
            </a:r>
            <a:endParaRPr lang="" sz="24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BBD45D3-4EEB-3868-A71D-CF84843ED58A}"/>
              </a:ext>
            </a:extLst>
          </p:cNvPr>
          <p:cNvSpPr/>
          <p:nvPr/>
        </p:nvSpPr>
        <p:spPr>
          <a:xfrm>
            <a:off x="1406012" y="2812876"/>
            <a:ext cx="9340645" cy="634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dirty="0"/>
              <a:t>Вітчизняних мобільних додатків для навчання саме UX/UI-дизайну на момент аналізу не виявлено взагалі. </a:t>
            </a:r>
            <a:endParaRPr lang="" sz="2400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018899D3-27B5-D4A5-9D24-75D8CC7686B2}"/>
              </a:ext>
            </a:extLst>
          </p:cNvPr>
          <p:cNvSpPr/>
          <p:nvPr/>
        </p:nvSpPr>
        <p:spPr>
          <a:xfrm>
            <a:off x="1406012" y="3726739"/>
            <a:ext cx="9340645" cy="23747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sz="2400" dirty="0"/>
              <a:t>Виявлені проблеми:</a:t>
            </a:r>
          </a:p>
          <a:p>
            <a:r>
              <a:rPr lang="uk-UA" sz="2400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/>
              <a:t>Відсутність сучасних мобільних інструментів для інтерактивного та практичного навчання.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/>
              <a:t>Відсутність швидкого способу отримання якісного фідбеку на розроблені користувачем інтерфейси.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/>
              <a:t>Недостатній рівень мотивації через відсутність ігрових та персоналізованих елементів.</a:t>
            </a:r>
          </a:p>
          <a:p>
            <a:endParaRPr lang="" sz="2400" dirty="0"/>
          </a:p>
        </p:txBody>
      </p:sp>
    </p:spTree>
    <p:extLst>
      <p:ext uri="{BB962C8B-B14F-4D97-AF65-F5344CB8AC3E}">
        <p14:creationId xmlns:p14="http://schemas.microsoft.com/office/powerpoint/2010/main" val="2610840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B7F8B-4B38-1462-436A-3D441C14D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DA4A7B-DABE-7A86-1455-89519A899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97" y="1288101"/>
            <a:ext cx="9144000" cy="514350"/>
          </a:xfrm>
        </p:spPr>
        <p:txBody>
          <a:bodyPr>
            <a:noAutofit/>
          </a:bodyPr>
          <a:lstStyle/>
          <a:p>
            <a:pPr lvl="1"/>
            <a:r>
              <a:rPr lang="uk-UA" sz="3600" b="1" dirty="0"/>
              <a:t>Постановка задачі</a:t>
            </a:r>
            <a:endParaRPr lang="" sz="3600" b="1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B2055142-D17C-1310-8F2E-4E3E928E6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B32CF9BA-6FAC-6280-D1CE-B6D480826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A0A4A289-0952-80DA-CDD9-E6602E650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C393BB96-9555-70C7-7B99-FAEE0870461C}"/>
              </a:ext>
            </a:extLst>
          </p:cNvPr>
          <p:cNvSpPr/>
          <p:nvPr/>
        </p:nvSpPr>
        <p:spPr>
          <a:xfrm>
            <a:off x="1597819" y="6195448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52E78DE-1E3B-2773-AFB9-1EEC7DD0EA0F}"/>
              </a:ext>
            </a:extLst>
          </p:cNvPr>
          <p:cNvSpPr/>
          <p:nvPr/>
        </p:nvSpPr>
        <p:spPr>
          <a:xfrm>
            <a:off x="639097" y="1916098"/>
            <a:ext cx="9340645" cy="1116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sz="2400" dirty="0"/>
              <a:t>Задача: проєктування та розробка </a:t>
            </a:r>
            <a:r>
              <a:rPr lang="uk-UA" sz="2400" dirty="0" err="1"/>
              <a:t>кросплатформного</a:t>
            </a:r>
            <a:r>
              <a:rPr lang="uk-UA" sz="2400" dirty="0"/>
              <a:t> мобільного застосунку «</a:t>
            </a:r>
            <a:r>
              <a:rPr lang="uk-UA" sz="2400" dirty="0" err="1"/>
              <a:t>DesignScout</a:t>
            </a:r>
            <a:r>
              <a:rPr lang="uk-UA" sz="2400" dirty="0"/>
              <a:t>» для навчання UX/UI дизайну у форматі MVP (</a:t>
            </a:r>
            <a:r>
              <a:rPr lang="uk-UA" sz="2400" dirty="0" err="1"/>
              <a:t>Minimum</a:t>
            </a:r>
            <a:r>
              <a:rPr lang="uk-UA" sz="2400" dirty="0"/>
              <a:t> </a:t>
            </a:r>
            <a:r>
              <a:rPr lang="uk-UA" sz="2400" dirty="0" err="1"/>
              <a:t>Viable</a:t>
            </a:r>
            <a:r>
              <a:rPr lang="uk-UA" sz="2400" dirty="0"/>
              <a:t> </a:t>
            </a:r>
            <a:r>
              <a:rPr lang="uk-UA" sz="2400" dirty="0" err="1"/>
              <a:t>Product</a:t>
            </a:r>
            <a:r>
              <a:rPr lang="uk-UA" sz="2400" dirty="0"/>
              <a:t>).</a:t>
            </a:r>
            <a:endParaRPr lang="" sz="24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8586890-F389-FAA4-D60A-9BE7C198ACF2}"/>
              </a:ext>
            </a:extLst>
          </p:cNvPr>
          <p:cNvSpPr/>
          <p:nvPr/>
        </p:nvSpPr>
        <p:spPr>
          <a:xfrm>
            <a:off x="639097" y="3022981"/>
            <a:ext cx="9340645" cy="22390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sz="2400" dirty="0"/>
              <a:t>Критерії успішності:</a:t>
            </a:r>
          </a:p>
          <a:p>
            <a:endParaRPr lang="uk-UA" sz="2400" dirty="0"/>
          </a:p>
          <a:p>
            <a:pPr marL="342900" indent="-342900">
              <a:buFont typeface="+mj-lt"/>
              <a:buAutoNum type="arabicPeriod"/>
            </a:pPr>
            <a:r>
              <a:rPr lang="uk-UA" dirty="0"/>
              <a:t>Наявність стабільного демонстраційного прототипу з реалізованими базовими функціями. 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/>
              <a:t>Відповідність програмного коду архітектурним стандартам мобільних додатків. 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/>
              <a:t>Успішне проходження основних користувацьких сценаріїв.</a:t>
            </a:r>
            <a:endParaRPr lang="" sz="24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F810E2E-69C4-D8AE-B8B6-0D544AFD5F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419" y="1635103"/>
            <a:ext cx="2045110" cy="438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487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07CF1-3890-0F4E-F952-D4452D05B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EE6156-3C2B-9A91-3AF5-D3918CF7A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97" y="1288101"/>
            <a:ext cx="9144000" cy="514350"/>
          </a:xfrm>
        </p:spPr>
        <p:txBody>
          <a:bodyPr>
            <a:noAutofit/>
          </a:bodyPr>
          <a:lstStyle/>
          <a:p>
            <a:pPr lvl="1"/>
            <a:r>
              <a:rPr lang="uk-UA" sz="3600" b="1" dirty="0"/>
              <a:t>Вибір технологій розробки</a:t>
            </a:r>
            <a:endParaRPr lang="" sz="3600" b="1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749C472-FBA9-5354-49FD-308A9989A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78EAEFE7-6C4D-D1BB-C3E4-10BA49A54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3AC42B74-01F7-7BFA-98FF-B8EC55BEE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DD38204D-1E2C-FB15-7D47-51A742174293}"/>
              </a:ext>
            </a:extLst>
          </p:cNvPr>
          <p:cNvSpPr/>
          <p:nvPr/>
        </p:nvSpPr>
        <p:spPr>
          <a:xfrm>
            <a:off x="1597819" y="6195448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BBB5454-441D-2454-EEBD-BC4BE4BDC9CB}"/>
              </a:ext>
            </a:extLst>
          </p:cNvPr>
          <p:cNvSpPr/>
          <p:nvPr/>
        </p:nvSpPr>
        <p:spPr>
          <a:xfrm>
            <a:off x="639097" y="2117840"/>
            <a:ext cx="9340645" cy="22036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160"/>
              </a:lnSpc>
              <a:buSzPct val="100000"/>
            </a:pPr>
            <a:r>
              <a:rPr lang="uk-UA" sz="2400" dirty="0"/>
              <a:t>Технічна реалізація проєкту передбачає побудову клієнтської частини застосунку з використанням фреймворку </a:t>
            </a:r>
            <a:r>
              <a:rPr lang="uk-UA" sz="2400" dirty="0" err="1"/>
              <a:t>React</a:t>
            </a:r>
            <a:r>
              <a:rPr lang="uk-UA" sz="2400" dirty="0"/>
              <a:t> </a:t>
            </a:r>
            <a:r>
              <a:rPr lang="uk-UA" sz="2400" dirty="0" err="1"/>
              <a:t>Native</a:t>
            </a:r>
            <a:r>
              <a:rPr lang="uk-UA" sz="2400" dirty="0"/>
              <a:t> (мовою </a:t>
            </a:r>
            <a:r>
              <a:rPr lang="uk-UA" sz="2400" dirty="0" err="1"/>
              <a:t>TypeScript</a:t>
            </a:r>
            <a:r>
              <a:rPr lang="uk-UA" sz="2400" dirty="0"/>
              <a:t>) та середовища Expo (керований </a:t>
            </a:r>
            <a:r>
              <a:rPr lang="uk-UA" sz="2400" dirty="0" err="1"/>
              <a:t>workflow</a:t>
            </a:r>
            <a:r>
              <a:rPr lang="uk-UA" sz="2400" dirty="0"/>
              <a:t>), що дозволить забезпечити єдину кодову базу для операційних систем </a:t>
            </a:r>
            <a:r>
              <a:rPr lang="uk-UA" sz="2400" dirty="0" err="1"/>
              <a:t>Android</a:t>
            </a:r>
            <a:r>
              <a:rPr lang="uk-UA" sz="2400" dirty="0"/>
              <a:t> та </a:t>
            </a:r>
            <a:r>
              <a:rPr lang="uk-UA" sz="2400" dirty="0" err="1"/>
              <a:t>iOS</a:t>
            </a:r>
            <a:r>
              <a:rPr lang="uk-UA" sz="2400" dirty="0"/>
              <a:t>. </a:t>
            </a:r>
            <a:endParaRPr lang="en-US" sz="2400" dirty="0"/>
          </a:p>
          <a:p>
            <a:pPr>
              <a:lnSpc>
                <a:spcPts val="2160"/>
              </a:lnSpc>
              <a:buSzPct val="100000"/>
            </a:pPr>
            <a:r>
              <a:rPr lang="en-US" sz="2400" kern="0" spc="-36" dirty="0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Figma — </a:t>
            </a:r>
            <a:r>
              <a:rPr lang="en-US" sz="2400" kern="0" spc="-36" dirty="0" err="1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основний</a:t>
            </a:r>
            <a:r>
              <a:rPr lang="en-US" sz="2400" kern="0" spc="-36" dirty="0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400" kern="0" spc="-36" dirty="0" err="1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інструмент</a:t>
            </a:r>
            <a:r>
              <a:rPr lang="en-US" sz="2400" kern="0" spc="-36" dirty="0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400" kern="0" spc="-36" dirty="0" err="1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для</a:t>
            </a:r>
            <a:r>
              <a:rPr lang="en-US" sz="2400" kern="0" spc="-36" dirty="0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400" kern="0" spc="-36" dirty="0" err="1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створення</a:t>
            </a:r>
            <a:r>
              <a:rPr lang="en-US" sz="2400" kern="0" spc="-36" dirty="0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 UX/UI-</a:t>
            </a:r>
            <a:r>
              <a:rPr lang="en-US" sz="2400" kern="0" spc="-36" dirty="0" err="1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дизайну</a:t>
            </a:r>
            <a:r>
              <a:rPr lang="en-US" sz="2400" kern="0" spc="-36" dirty="0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400" kern="0" spc="-36" dirty="0" err="1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та</a:t>
            </a:r>
            <a:r>
              <a:rPr lang="en-US" sz="2400" kern="0" spc="-36" dirty="0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400" kern="0" spc="-36" dirty="0" err="1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інтерактивних</a:t>
            </a:r>
            <a:r>
              <a:rPr lang="en-US" sz="2400" kern="0" spc="-36" dirty="0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400" kern="0" spc="-36" dirty="0" err="1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прототипів</a:t>
            </a:r>
            <a:r>
              <a:rPr lang="uk-UA" sz="2400" kern="0" spc="-36" dirty="0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r>
              <a:rPr lang="en-US" sz="2400" kern="0" spc="-36" dirty="0">
                <a:solidFill>
                  <a:srgbClr val="000000">
                    <a:alpha val="99000"/>
                  </a:srgbClr>
                </a:solidFill>
                <a:ea typeface="Times New Roman" pitchFamily="34" charset="-122"/>
                <a:cs typeface="Times New Roman" pitchFamily="34" charset="-120"/>
              </a:rPr>
              <a:t> </a:t>
            </a:r>
            <a:endParaRPr lang="uk-UA" sz="2400" kern="0" spc="-36" dirty="0">
              <a:solidFill>
                <a:srgbClr val="000000">
                  <a:alpha val="99000"/>
                </a:srgbClr>
              </a:solidFill>
              <a:ea typeface="Times New Roman" pitchFamily="34" charset="-122"/>
              <a:cs typeface="Times New Roman" pitchFamily="34" charset="-120"/>
            </a:endParaRPr>
          </a:p>
        </p:txBody>
      </p:sp>
      <p:pic>
        <p:nvPicPr>
          <p:cNvPr id="3" name="Image 4" descr="preencoded.png">
            <a:extLst>
              <a:ext uri="{FF2B5EF4-FFF2-40B4-BE49-F238E27FC236}">
                <a16:creationId xmlns:a16="http://schemas.microsoft.com/office/drawing/2014/main" id="{BE9C8547-FDD1-DEAC-0726-D7B00631BC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9742" y="1424896"/>
            <a:ext cx="1385888" cy="1385888"/>
          </a:xfrm>
          <a:prstGeom prst="rect">
            <a:avLst/>
          </a:prstGeom>
        </p:spPr>
      </p:pic>
      <p:pic>
        <p:nvPicPr>
          <p:cNvPr id="1026" name="Picture 2" descr="Expo Go — скачать для Android 5,0☆ бесплатно 📱 в RuStore">
            <a:extLst>
              <a:ext uri="{FF2B5EF4-FFF2-40B4-BE49-F238E27FC236}">
                <a16:creationId xmlns:a16="http://schemas.microsoft.com/office/drawing/2014/main" id="{392A3FEF-E9A5-7B5C-B002-635193EBA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097" y="3692720"/>
            <a:ext cx="1888254" cy="1888254"/>
          </a:xfrm>
          <a:prstGeom prst="rect">
            <a:avLst/>
          </a:pr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act Native: Mobile Apps for Android &amp; iOS | iQuest">
            <a:extLst>
              <a:ext uri="{FF2B5EF4-FFF2-40B4-BE49-F238E27FC236}">
                <a16:creationId xmlns:a16="http://schemas.microsoft.com/office/drawing/2014/main" id="{888C1225-8C12-F754-1435-7B9B166AF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836" y="4896888"/>
            <a:ext cx="2132064" cy="1400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0764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D217B-76D4-2A73-5D7A-CBA23E00D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77F7C63-C63B-6422-B47F-82B13D1C3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3725671"/>
            <a:ext cx="3716594" cy="258337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E8A18-2E93-BDDA-C04E-688AA181E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97" y="972737"/>
            <a:ext cx="9144000" cy="1145103"/>
          </a:xfrm>
        </p:spPr>
        <p:txBody>
          <a:bodyPr>
            <a:noAutofit/>
          </a:bodyPr>
          <a:lstStyle/>
          <a:p>
            <a:pPr lvl="1"/>
            <a:r>
              <a:rPr lang="uk-UA" sz="3600" b="1" dirty="0"/>
              <a:t>Архітектура </a:t>
            </a:r>
            <a:r>
              <a:rPr lang="uk-UA" sz="3600" b="1" dirty="0" err="1"/>
              <a:t>створенного</a:t>
            </a:r>
            <a:r>
              <a:rPr lang="uk-UA" sz="3600" b="1" dirty="0"/>
              <a:t> програмного забезпечення</a:t>
            </a:r>
            <a:endParaRPr lang="" sz="3600" b="1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34FECC4-B8C2-3E28-FE6C-564371FF4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64A9097A-6EA7-A136-9DA0-B1CC21EA7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25B12349-8DC8-96AE-0012-E8E4D7BFF4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1299D070-C007-9A64-4CBF-DD662C793F73}"/>
              </a:ext>
            </a:extLst>
          </p:cNvPr>
          <p:cNvSpPr/>
          <p:nvPr/>
        </p:nvSpPr>
        <p:spPr>
          <a:xfrm>
            <a:off x="1597819" y="6195448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801AF0C-BBEA-2456-35CF-2CF552635FF1}"/>
              </a:ext>
            </a:extLst>
          </p:cNvPr>
          <p:cNvSpPr/>
          <p:nvPr/>
        </p:nvSpPr>
        <p:spPr>
          <a:xfrm>
            <a:off x="588822" y="3585073"/>
            <a:ext cx="7739100" cy="10112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160"/>
              </a:lnSpc>
              <a:buSzPct val="100000"/>
            </a:pPr>
            <a:r>
              <a:rPr lang="uk-UA" dirty="0"/>
              <a:t>Основні екрани: </a:t>
            </a:r>
            <a:r>
              <a:rPr lang="uk-UA" dirty="0" err="1"/>
              <a:t>HomeScreen</a:t>
            </a:r>
            <a:r>
              <a:rPr lang="uk-UA" dirty="0"/>
              <a:t>, </a:t>
            </a:r>
            <a:r>
              <a:rPr lang="uk-UA" dirty="0" err="1"/>
              <a:t>WelcomeScreen</a:t>
            </a:r>
            <a:r>
              <a:rPr lang="uk-UA" dirty="0"/>
              <a:t>, </a:t>
            </a:r>
            <a:r>
              <a:rPr lang="uk-UA" dirty="0" err="1"/>
              <a:t>LessonsScreen</a:t>
            </a:r>
            <a:r>
              <a:rPr lang="uk-UA" dirty="0"/>
              <a:t>, </a:t>
            </a:r>
            <a:r>
              <a:rPr lang="uk-UA" dirty="0" err="1"/>
              <a:t>LessonDetailScreen</a:t>
            </a:r>
            <a:r>
              <a:rPr lang="uk-UA" dirty="0"/>
              <a:t>, </a:t>
            </a:r>
            <a:r>
              <a:rPr lang="uk-UA" dirty="0" err="1"/>
              <a:t>QuizScreen</a:t>
            </a:r>
            <a:r>
              <a:rPr lang="uk-UA" dirty="0"/>
              <a:t>, </a:t>
            </a:r>
            <a:r>
              <a:rPr lang="uk-UA" dirty="0" err="1"/>
              <a:t>PracticeScreen</a:t>
            </a:r>
            <a:r>
              <a:rPr lang="uk-UA" dirty="0"/>
              <a:t>, </a:t>
            </a:r>
            <a:r>
              <a:rPr lang="uk-UA" dirty="0" err="1"/>
              <a:t>AnalysisScreen</a:t>
            </a:r>
            <a:r>
              <a:rPr lang="uk-UA" dirty="0"/>
              <a:t>, </a:t>
            </a:r>
            <a:r>
              <a:rPr lang="uk-UA" dirty="0" err="1"/>
              <a:t>AnalysisResultScreen</a:t>
            </a:r>
            <a:r>
              <a:rPr lang="uk-UA" dirty="0"/>
              <a:t>, </a:t>
            </a:r>
            <a:r>
              <a:rPr lang="uk-UA" dirty="0" err="1"/>
              <a:t>ProfileScreen</a:t>
            </a:r>
            <a:r>
              <a:rPr lang="uk-UA" dirty="0"/>
              <a:t> та </a:t>
            </a:r>
            <a:r>
              <a:rPr lang="uk-UA" dirty="0" err="1"/>
              <a:t>SettingsScreen</a:t>
            </a:r>
            <a:endParaRPr lang="uk-UA" sz="2400" kern="0" spc="-36" dirty="0">
              <a:solidFill>
                <a:srgbClr val="000000">
                  <a:alpha val="99000"/>
                </a:srgbClr>
              </a:solidFill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64C96C8-33A5-64D8-276E-4D59DF9EDB93}"/>
              </a:ext>
            </a:extLst>
          </p:cNvPr>
          <p:cNvSpPr/>
          <p:nvPr/>
        </p:nvSpPr>
        <p:spPr>
          <a:xfrm>
            <a:off x="588822" y="4712122"/>
            <a:ext cx="5958348" cy="4341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160"/>
              </a:lnSpc>
              <a:buSzPct val="100000"/>
            </a:pPr>
            <a:r>
              <a:rPr lang="uk-UA" dirty="0"/>
              <a:t>Головна навігація: нижній </a:t>
            </a:r>
            <a:r>
              <a:rPr lang="uk-UA" dirty="0" err="1"/>
              <a:t>таб</a:t>
            </a:r>
            <a:r>
              <a:rPr lang="uk-UA" dirty="0"/>
              <a:t>-бар</a:t>
            </a:r>
            <a:endParaRPr lang="uk-UA" sz="2400" kern="0" spc="-36" dirty="0">
              <a:solidFill>
                <a:srgbClr val="000000">
                  <a:alpha val="99000"/>
                </a:srgbClr>
              </a:solidFill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A947F379-1867-1230-B607-EF7DD9D4CF58}"/>
              </a:ext>
            </a:extLst>
          </p:cNvPr>
          <p:cNvSpPr/>
          <p:nvPr/>
        </p:nvSpPr>
        <p:spPr>
          <a:xfrm>
            <a:off x="588822" y="2064338"/>
            <a:ext cx="11141062" cy="156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dirty="0"/>
              <a:t>Архітектура </a:t>
            </a:r>
            <a:r>
              <a:rPr lang="uk-UA" dirty="0" err="1"/>
              <a:t>DesignScout</a:t>
            </a:r>
            <a:r>
              <a:rPr lang="uk-UA" dirty="0"/>
              <a:t> побудована за клієнт-серверною моделлю, де клієнтською частиною є мобільний застосунок на базі </a:t>
            </a:r>
            <a:r>
              <a:rPr lang="uk-UA" dirty="0" err="1"/>
              <a:t>React</a:t>
            </a:r>
            <a:r>
              <a:rPr lang="uk-UA" dirty="0"/>
              <a:t> </a:t>
            </a:r>
            <a:r>
              <a:rPr lang="uk-UA" dirty="0" err="1"/>
              <a:t>Native</a:t>
            </a:r>
            <a:r>
              <a:rPr lang="uk-UA" dirty="0"/>
              <a:t>, а серверною – веб‑сервіс, реалізований за допомогою </a:t>
            </a:r>
            <a:r>
              <a:rPr lang="uk-UA" dirty="0" err="1"/>
              <a:t>Python</a:t>
            </a:r>
            <a:r>
              <a:rPr lang="uk-UA" dirty="0"/>
              <a:t> та фреймворку </a:t>
            </a:r>
            <a:r>
              <a:rPr lang="uk-UA" dirty="0" err="1"/>
              <a:t>FastAPI</a:t>
            </a:r>
            <a:r>
              <a:rPr lang="uk-UA" dirty="0"/>
              <a:t>. Взаємодія між клієнтом та сервером здійснюється через HTTP з використанням REST API, передача даних виконується у форматі JSON, що спрощує інтеграцію та налагодження.</a:t>
            </a:r>
            <a:endParaRPr lang="" dirty="0"/>
          </a:p>
        </p:txBody>
      </p:sp>
    </p:spTree>
    <p:extLst>
      <p:ext uri="{BB962C8B-B14F-4D97-AF65-F5344CB8AC3E}">
        <p14:creationId xmlns:p14="http://schemas.microsoft.com/office/powerpoint/2010/main" val="806626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AC46B-867B-BE89-8ADE-91F24D50C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726F59-0376-9AEE-37A2-296771E66F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97" y="972737"/>
            <a:ext cx="9144000" cy="620089"/>
          </a:xfrm>
        </p:spPr>
        <p:txBody>
          <a:bodyPr>
            <a:noAutofit/>
          </a:bodyPr>
          <a:lstStyle/>
          <a:p>
            <a:pPr lvl="1"/>
            <a:r>
              <a:rPr lang="uk-UA" sz="3600" b="1" dirty="0"/>
              <a:t>Приклади найцікавіших методів</a:t>
            </a:r>
            <a:endParaRPr lang="" sz="3600" b="1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B602B466-7B3B-CDBA-4869-44CC03BF9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FE322140-ACD1-C868-0495-EA4CE473A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B025DCE6-D8A7-657E-A465-C7B9B864E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EDE7F42B-631C-986F-3313-6E91239AE873}"/>
              </a:ext>
            </a:extLst>
          </p:cNvPr>
          <p:cNvSpPr/>
          <p:nvPr/>
        </p:nvSpPr>
        <p:spPr>
          <a:xfrm>
            <a:off x="1597819" y="6195448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98478E8-74C8-B5C9-0AF5-78A3B3BBE33A}"/>
              </a:ext>
            </a:extLst>
          </p:cNvPr>
          <p:cNvSpPr/>
          <p:nvPr/>
        </p:nvSpPr>
        <p:spPr>
          <a:xfrm>
            <a:off x="639095" y="2261961"/>
            <a:ext cx="9871587" cy="8986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dirty="0"/>
              <a:t>Для імітації роботи комп’ютерного зору (</a:t>
            </a:r>
            <a:r>
              <a:rPr lang="uk-UA" dirty="0" err="1"/>
              <a:t>Computer</a:t>
            </a:r>
            <a:r>
              <a:rPr lang="uk-UA" dirty="0"/>
              <a:t> </a:t>
            </a:r>
            <a:r>
              <a:rPr lang="uk-UA" dirty="0" err="1"/>
              <a:t>Vision</a:t>
            </a:r>
            <a:r>
              <a:rPr lang="uk-UA" dirty="0"/>
              <a:t>) розроблено алгоритм стохастичної генерації UX-проблем </a:t>
            </a:r>
            <a:r>
              <a:rPr lang="uk-UA" dirty="0" err="1"/>
              <a:t>generate_realistic_issues</a:t>
            </a:r>
            <a:r>
              <a:rPr lang="uk-UA" dirty="0"/>
              <a:t>.</a:t>
            </a:r>
            <a:endParaRPr lang="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C1EE71E1-D3E0-FC77-95FD-585D176ED077}"/>
              </a:ext>
            </a:extLst>
          </p:cNvPr>
          <p:cNvSpPr/>
          <p:nvPr/>
        </p:nvSpPr>
        <p:spPr>
          <a:xfrm>
            <a:off x="639097" y="1693326"/>
            <a:ext cx="11141062" cy="620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sz="2400" dirty="0"/>
              <a:t>Метод програмного імітаційного моделювання поведінки ШІ-системи.</a:t>
            </a:r>
            <a:endParaRPr lang="" sz="2400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F155644B-7AD8-7AFC-F7AD-360FFE0CA4BE}"/>
              </a:ext>
            </a:extLst>
          </p:cNvPr>
          <p:cNvSpPr/>
          <p:nvPr/>
        </p:nvSpPr>
        <p:spPr>
          <a:xfrm>
            <a:off x="639095" y="3092787"/>
            <a:ext cx="11141062" cy="8986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sz="2400" dirty="0"/>
              <a:t>Автоматизована перевірка на відповідність </a:t>
            </a:r>
            <a:r>
              <a:rPr lang="uk-UA" sz="2400" dirty="0" err="1"/>
              <a:t>евристикам</a:t>
            </a:r>
            <a:r>
              <a:rPr lang="uk-UA" sz="2400" dirty="0"/>
              <a:t> Нільсена та стандартам доступності</a:t>
            </a:r>
            <a:endParaRPr lang="" sz="24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3AD79F39-4CD3-954D-6580-FAB00419FBFE}"/>
              </a:ext>
            </a:extLst>
          </p:cNvPr>
          <p:cNvSpPr/>
          <p:nvPr/>
        </p:nvSpPr>
        <p:spPr>
          <a:xfrm>
            <a:off x="639094" y="4015912"/>
            <a:ext cx="7541345" cy="8986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dirty="0"/>
              <a:t>Алгоритм використовує словник UX_RULES, який містить базу знань про найпоширеніші помилки.</a:t>
            </a:r>
            <a:endParaRPr lang="" dirty="0"/>
          </a:p>
        </p:txBody>
      </p:sp>
      <p:pic>
        <p:nvPicPr>
          <p:cNvPr id="2050" name="Picture 2" descr="Оценка по эвристикам Якоба Нильсена: ограничения в методике при применении  на практике | by Evgeny Vasilets | Usethics ⭕ doc | Medium">
            <a:extLst>
              <a:ext uri="{FF2B5EF4-FFF2-40B4-BE49-F238E27FC236}">
                <a16:creationId xmlns:a16="http://schemas.microsoft.com/office/drawing/2014/main" id="{46BCA395-9F1A-653D-90B2-96F305FD2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3331" y="3813376"/>
            <a:ext cx="3846826" cy="2486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0310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1ECF1-2056-EC2F-8D08-249044586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7D26E8-FD1C-4235-7029-F3293723C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97" y="972738"/>
            <a:ext cx="9144000" cy="669250"/>
          </a:xfrm>
        </p:spPr>
        <p:txBody>
          <a:bodyPr>
            <a:noAutofit/>
          </a:bodyPr>
          <a:lstStyle/>
          <a:p>
            <a:pPr lvl="1"/>
            <a:r>
              <a:rPr lang="uk-UA" sz="3600" b="1" dirty="0"/>
              <a:t>Тестування</a:t>
            </a:r>
            <a:endParaRPr lang="" sz="3600" b="1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9361F05B-2A67-23C2-6CD8-C01C5FBFF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0614F473-4996-2A13-5DCF-27E75E0CB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C491873C-4111-D185-C160-7E59C3CCE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F32C54E0-AC73-948B-A772-81212323CB83}"/>
              </a:ext>
            </a:extLst>
          </p:cNvPr>
          <p:cNvSpPr/>
          <p:nvPr/>
        </p:nvSpPr>
        <p:spPr>
          <a:xfrm>
            <a:off x="1597819" y="6195448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E4C9E09-7329-2194-ED9B-941D980B9DFD}"/>
              </a:ext>
            </a:extLst>
          </p:cNvPr>
          <p:cNvSpPr/>
          <p:nvPr/>
        </p:nvSpPr>
        <p:spPr>
          <a:xfrm>
            <a:off x="634604" y="2532549"/>
            <a:ext cx="7739100" cy="4341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160"/>
              </a:lnSpc>
              <a:buSzPct val="100000"/>
            </a:pPr>
            <a:r>
              <a:rPr lang="uk-UA" dirty="0" err="1"/>
              <a:t>Протестовано</a:t>
            </a:r>
            <a:r>
              <a:rPr lang="uk-UA" dirty="0"/>
              <a:t> функціонал аналізу макетів інтерфейсу.</a:t>
            </a:r>
            <a:endParaRPr lang="uk-UA" sz="2400" kern="0" spc="-36" dirty="0">
              <a:solidFill>
                <a:srgbClr val="000000">
                  <a:alpha val="99000"/>
                </a:srgbClr>
              </a:solidFill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E3667D62-133C-9947-CBB3-21820E1BFA31}"/>
              </a:ext>
            </a:extLst>
          </p:cNvPr>
          <p:cNvSpPr/>
          <p:nvPr/>
        </p:nvSpPr>
        <p:spPr>
          <a:xfrm>
            <a:off x="639097" y="2943888"/>
            <a:ext cx="8584675" cy="1369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160"/>
              </a:lnSpc>
              <a:buSzPct val="100000"/>
            </a:pPr>
            <a:r>
              <a:rPr lang="uk-UA" dirty="0"/>
              <a:t>Здійснювався вибір зображення з галереї пристрою, надсилання його на сервер для аналізу та отримання результатів. Після обробки перевірялася коректність відображення загальної оцінки дизайну (</a:t>
            </a:r>
            <a:r>
              <a:rPr lang="uk-UA" dirty="0" err="1"/>
              <a:t>score</a:t>
            </a:r>
            <a:r>
              <a:rPr lang="uk-UA" dirty="0"/>
              <a:t>), списку виявлених проблем і робота переходу до екрана з результатами.</a:t>
            </a:r>
            <a:endParaRPr lang="uk-UA" sz="2400" kern="0" spc="-36" dirty="0">
              <a:solidFill>
                <a:srgbClr val="000000">
                  <a:alpha val="99000"/>
                </a:srgbClr>
              </a:solidFill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D996DDCE-D78E-C0C1-661E-7CD94E776174}"/>
              </a:ext>
            </a:extLst>
          </p:cNvPr>
          <p:cNvSpPr/>
          <p:nvPr/>
        </p:nvSpPr>
        <p:spPr>
          <a:xfrm>
            <a:off x="588822" y="2064338"/>
            <a:ext cx="1114106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dirty="0"/>
              <a:t>Основний підхід можна охарактеризувати як </a:t>
            </a:r>
            <a:r>
              <a:rPr lang="uk-UA" dirty="0" err="1"/>
              <a:t>експлораторне</a:t>
            </a:r>
            <a:r>
              <a:rPr lang="uk-UA" dirty="0"/>
              <a:t> тестування. </a:t>
            </a:r>
            <a:endParaRPr lang="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987E7DD8-68AD-7CD9-5CA8-2EB1E0751231}"/>
              </a:ext>
            </a:extLst>
          </p:cNvPr>
          <p:cNvSpPr/>
          <p:nvPr/>
        </p:nvSpPr>
        <p:spPr>
          <a:xfrm>
            <a:off x="639097" y="4313281"/>
            <a:ext cx="8584675" cy="640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dirty="0"/>
              <a:t>Перевірка на відсутність доступу до галереї пристрою, недоступність сервера аналізу та спробу запустити аналіз без попереднього вибору зображення</a:t>
            </a:r>
            <a:endParaRPr lang="" dirty="0"/>
          </a:p>
        </p:txBody>
      </p:sp>
    </p:spTree>
    <p:extLst>
      <p:ext uri="{BB962C8B-B14F-4D97-AF65-F5344CB8AC3E}">
        <p14:creationId xmlns:p14="http://schemas.microsoft.com/office/powerpoint/2010/main" val="2236410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82000-ED98-ECA4-79DB-4ECAEE707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04BE9C-7FB5-669A-1BE1-161C34444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97" y="972737"/>
            <a:ext cx="9144000" cy="620089"/>
          </a:xfrm>
        </p:spPr>
        <p:txBody>
          <a:bodyPr>
            <a:noAutofit/>
          </a:bodyPr>
          <a:lstStyle/>
          <a:p>
            <a:pPr lvl="1"/>
            <a:r>
              <a:rPr lang="uk-UA" sz="3600" b="1" dirty="0"/>
              <a:t>Дизайн розробленого застосунку</a:t>
            </a:r>
            <a:endParaRPr lang="" sz="3600" b="1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BA7C9326-74C6-830E-3307-3871D0D5C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13D8FE70-38D0-63C4-99AF-6EECF878E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78E8D149-581B-8CE5-AC19-CEDBF811A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6CBAFC66-A4A3-E620-5199-A89AB788DD16}"/>
              </a:ext>
            </a:extLst>
          </p:cNvPr>
          <p:cNvSpPr/>
          <p:nvPr/>
        </p:nvSpPr>
        <p:spPr>
          <a:xfrm>
            <a:off x="1597819" y="6195448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D8F0B96-33CE-376A-6FC5-BF9077D05F81}"/>
              </a:ext>
            </a:extLst>
          </p:cNvPr>
          <p:cNvSpPr/>
          <p:nvPr/>
        </p:nvSpPr>
        <p:spPr>
          <a:xfrm>
            <a:off x="570270" y="1803563"/>
            <a:ext cx="9871587" cy="15394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dirty="0"/>
              <a:t>З метою забезпечення </a:t>
            </a:r>
            <a:r>
              <a:rPr lang="uk-UA" dirty="0" err="1"/>
              <a:t>інклюзивності</a:t>
            </a:r>
            <a:r>
              <a:rPr lang="uk-UA" dirty="0"/>
              <a:t> (</a:t>
            </a:r>
            <a:r>
              <a:rPr lang="uk-UA" dirty="0" err="1"/>
              <a:t>Accessibility</a:t>
            </a:r>
            <a:r>
              <a:rPr lang="uk-UA" dirty="0"/>
              <a:t>) в UX-логіку закладено такі принципи:</a:t>
            </a:r>
            <a:endParaRPr lang="" dirty="0"/>
          </a:p>
          <a:p>
            <a:pPr lvl="0"/>
            <a:endParaRPr lang="uk-UA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uk-UA" dirty="0"/>
              <a:t>Сенсорна доступність.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uk-UA" dirty="0"/>
              <a:t>Зворотний зв'язок.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uk-UA" dirty="0"/>
              <a:t>Прогресивне розкриття інформації.</a:t>
            </a:r>
            <a:endParaRPr lang="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04A5A00-C4D5-3C18-30AF-7EBC56B80A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097" y="2198635"/>
            <a:ext cx="1836036" cy="39968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0E7A03B-B382-459E-D4AA-4DF6561ED7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010" y="2668894"/>
            <a:ext cx="1714085" cy="373134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139305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98ED5-9808-0208-C603-C8FC9891E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D22FF7-542D-685E-B569-CBC60B55E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97" y="972737"/>
            <a:ext cx="9144000" cy="620089"/>
          </a:xfrm>
        </p:spPr>
        <p:txBody>
          <a:bodyPr>
            <a:noAutofit/>
          </a:bodyPr>
          <a:lstStyle/>
          <a:p>
            <a:pPr lvl="1"/>
            <a:r>
              <a:rPr lang="uk-UA" sz="3600" b="1" dirty="0"/>
              <a:t>Приклад реалізації</a:t>
            </a:r>
            <a:endParaRPr lang="" sz="3600" b="1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39DBA594-F4BB-D149-CA3C-EE041F6C7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58AFE036-47FC-1BE3-9522-7825DFD85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B1895108-F270-9FC6-809A-08CB7440F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8209E0AF-1808-90AF-80C1-CC559FF7F719}"/>
              </a:ext>
            </a:extLst>
          </p:cNvPr>
          <p:cNvSpPr/>
          <p:nvPr/>
        </p:nvSpPr>
        <p:spPr>
          <a:xfrm>
            <a:off x="1597819" y="6195448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6FF59442-10F0-C7D7-C54B-F8AE60CA9EF4}"/>
              </a:ext>
            </a:extLst>
          </p:cNvPr>
          <p:cNvSpPr/>
          <p:nvPr/>
        </p:nvSpPr>
        <p:spPr>
          <a:xfrm>
            <a:off x="550606" y="1650760"/>
            <a:ext cx="9871587" cy="1099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dirty="0"/>
              <a:t>Скріншоти основних екранів: мій профіль, аналіз макету, екран курсів, головний екран.</a:t>
            </a:r>
            <a:endParaRPr lang="" dirty="0"/>
          </a:p>
          <a:p>
            <a:pPr lvl="0"/>
            <a:endParaRPr lang="uk-UA" dirty="0"/>
          </a:p>
          <a:p>
            <a:pPr lvl="0"/>
            <a:r>
              <a:rPr lang="uk-UA" dirty="0"/>
              <a:t>Візуалізація: іконки, прогрес-бар.</a:t>
            </a:r>
            <a:endParaRPr lang="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913F8CC-CB4E-4C0A-9EB7-1FB141E95D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097" y="1096297"/>
            <a:ext cx="2143171" cy="4665406"/>
          </a:xfrm>
          <a:prstGeom prst="roundRect">
            <a:avLst>
              <a:gd name="adj" fmla="val 12079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B69EDB2-E35F-FC3E-5E46-06336022A9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6023" y="2104103"/>
            <a:ext cx="2040652" cy="4449097"/>
          </a:xfrm>
          <a:prstGeom prst="roundRect">
            <a:avLst>
              <a:gd name="adj" fmla="val 944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B3DF954-F21D-DC1D-B12B-3C7B279A34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066" y="2621878"/>
            <a:ext cx="1700535" cy="3701845"/>
          </a:xfrm>
          <a:prstGeom prst="roundRect">
            <a:avLst>
              <a:gd name="adj" fmla="val 13198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F282F60-D8F3-8EBF-46F8-F242266725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216" y="2851354"/>
            <a:ext cx="1700535" cy="370184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391751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A9191-44EB-520A-B4F8-046C98506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FAE973-2735-65F3-985D-3E9CCE5EA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97" y="972737"/>
            <a:ext cx="9144000" cy="620089"/>
          </a:xfrm>
        </p:spPr>
        <p:txBody>
          <a:bodyPr>
            <a:noAutofit/>
          </a:bodyPr>
          <a:lstStyle/>
          <a:p>
            <a:pPr lvl="1"/>
            <a:r>
              <a:rPr lang="uk-UA" sz="3600" b="1" dirty="0"/>
              <a:t>Інтерфейс користувача</a:t>
            </a:r>
            <a:endParaRPr lang="" sz="3600" b="1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34B98DF6-89C3-99B8-44EE-E7CAF01B5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5857C3D7-804B-09D1-923B-1B4A5F652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F36E4C57-3595-D295-88E8-E04800768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15E6F412-836D-A02A-7D7C-DF1803F8CE0F}"/>
              </a:ext>
            </a:extLst>
          </p:cNvPr>
          <p:cNvSpPr/>
          <p:nvPr/>
        </p:nvSpPr>
        <p:spPr>
          <a:xfrm>
            <a:off x="1597819" y="6458231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BCA3616-77F4-B76F-96AB-8E06D69011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819" y="1855610"/>
            <a:ext cx="2040651" cy="444223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C170538-2297-59FE-7504-F45B292065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007" y="1848745"/>
            <a:ext cx="2040652" cy="444909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ADCE54F-06C1-9A05-9040-AFDE2048FE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855" y="1846615"/>
            <a:ext cx="2040652" cy="44422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F78A4A6-C313-6C08-FDF6-E7A6B8FF40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2754" y="1855609"/>
            <a:ext cx="2040651" cy="44422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941167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C9A94-261F-7728-34B6-2F928D672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AABE90-01B3-01C2-78E3-B33726B9E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97" y="972737"/>
            <a:ext cx="9144000" cy="620089"/>
          </a:xfrm>
        </p:spPr>
        <p:txBody>
          <a:bodyPr>
            <a:noAutofit/>
          </a:bodyPr>
          <a:lstStyle/>
          <a:p>
            <a:pPr lvl="1"/>
            <a:r>
              <a:rPr lang="uk-UA" sz="3600" b="1" dirty="0"/>
              <a:t>Підсумки</a:t>
            </a:r>
            <a:endParaRPr lang="" sz="3600" b="1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5DDD71E-8466-1410-A15A-0F9900FE0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4D81A028-810B-1A1E-EE86-2BC430810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262E37F5-DDE1-771C-D6E1-FD6E114E7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664FF5C9-34A9-0A4F-31CE-1D2CEE0164EF}"/>
              </a:ext>
            </a:extLst>
          </p:cNvPr>
          <p:cNvSpPr/>
          <p:nvPr/>
        </p:nvSpPr>
        <p:spPr>
          <a:xfrm>
            <a:off x="1597819" y="6458231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4D91C6-0C0D-DE7B-EE40-1B2704C8668F}"/>
              </a:ext>
            </a:extLst>
          </p:cNvPr>
          <p:cNvSpPr txBox="1"/>
          <p:nvPr/>
        </p:nvSpPr>
        <p:spPr>
          <a:xfrm>
            <a:off x="639097" y="1759318"/>
            <a:ext cx="8514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У результаті проведеного аналізу предметної області було досліджено існуючі підходи до навчання UX/UI-дизайну.</a:t>
            </a:r>
            <a:endParaRPr lang="LID4096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764CC-4AFD-97AA-553D-27A289164DBD}"/>
              </a:ext>
            </a:extLst>
          </p:cNvPr>
          <p:cNvSpPr txBox="1"/>
          <p:nvPr/>
        </p:nvSpPr>
        <p:spPr>
          <a:xfrm>
            <a:off x="639097" y="2417494"/>
            <a:ext cx="8514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Розроблено архітектуру застосунку, що складається з клієнтської частини на базі </a:t>
            </a:r>
            <a:r>
              <a:rPr lang="uk-UA" dirty="0" err="1"/>
              <a:t>React</a:t>
            </a:r>
            <a:r>
              <a:rPr lang="uk-UA" dirty="0"/>
              <a:t> </a:t>
            </a:r>
            <a:r>
              <a:rPr lang="uk-UA" dirty="0" err="1"/>
              <a:t>Native</a:t>
            </a:r>
            <a:r>
              <a:rPr lang="uk-UA" dirty="0"/>
              <a:t> (Expo, </a:t>
            </a:r>
            <a:r>
              <a:rPr lang="uk-UA" dirty="0" err="1"/>
              <a:t>TypeScript</a:t>
            </a:r>
            <a:r>
              <a:rPr lang="uk-UA" dirty="0"/>
              <a:t>) та серверної частини на основі </a:t>
            </a:r>
            <a:r>
              <a:rPr lang="uk-UA" dirty="0" err="1"/>
              <a:t>FastAPI</a:t>
            </a:r>
            <a:r>
              <a:rPr lang="uk-UA" dirty="0"/>
              <a:t>.</a:t>
            </a:r>
            <a:endParaRPr lang="LID4096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4370D8-C65B-2127-15D2-C9B1FDF506FD}"/>
              </a:ext>
            </a:extLst>
          </p:cNvPr>
          <p:cNvSpPr txBox="1"/>
          <p:nvPr/>
        </p:nvSpPr>
        <p:spPr>
          <a:xfrm>
            <a:off x="639097" y="3105834"/>
            <a:ext cx="8514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Реалізовано інтерфейс для перегляду навчальних матеріалів, проходження тестів, виконання практичних завдань та запуску аналізу макетів інтерфейсу.</a:t>
            </a:r>
            <a:endParaRPr lang="LID4096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36C1CB-0C7C-C643-5936-6438A5DC900B}"/>
              </a:ext>
            </a:extLst>
          </p:cNvPr>
          <p:cNvSpPr txBox="1"/>
          <p:nvPr/>
        </p:nvSpPr>
        <p:spPr>
          <a:xfrm>
            <a:off x="639097" y="3837227"/>
            <a:ext cx="8514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У подальшому планується удосконалення модуля аналізу інтерфейсу через застосування більш складних моделей машинного навчання, інтеграції з онлайн-платформами для зберігання портфоліо дизайнерів.</a:t>
            </a:r>
            <a:endParaRPr lang="" dirty="0"/>
          </a:p>
        </p:txBody>
      </p:sp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6C3DFA6E-5EAC-D463-9BC3-74AA68F14E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522" y="3560471"/>
            <a:ext cx="2543413" cy="289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958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5BBD4-EC1F-DF35-3A34-0D1D1B72F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3011F8-EB1F-E415-C21F-5A028DB10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94" y="1271002"/>
            <a:ext cx="9871585" cy="514351"/>
          </a:xfrm>
        </p:spPr>
        <p:txBody>
          <a:bodyPr>
            <a:noAutofit/>
          </a:bodyPr>
          <a:lstStyle/>
          <a:p>
            <a:pPr lvl="1"/>
            <a:r>
              <a:rPr lang="uk-UA" sz="3600" b="1" dirty="0"/>
              <a:t>Впровадження програмного </a:t>
            </a:r>
            <a:r>
              <a:rPr lang="uk-UA" sz="3600" b="1" dirty="0" err="1"/>
              <a:t>запезпечення</a:t>
            </a:r>
            <a:endParaRPr lang="" sz="3600" b="1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E9515B85-D045-72AB-6995-A57716452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304800"/>
            <a:ext cx="2500313" cy="4572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751F8FD0-1E12-74FB-5A65-3DEDD9132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055" y="291895"/>
            <a:ext cx="2250282" cy="51435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6C7D1A23-F7E1-A22A-6A0D-599C854AF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5837696"/>
            <a:ext cx="1058350" cy="715504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CE3EDAF4-E8B8-9352-6CC7-38C98C0C81C5}"/>
              </a:ext>
            </a:extLst>
          </p:cNvPr>
          <p:cNvSpPr/>
          <p:nvPr/>
        </p:nvSpPr>
        <p:spPr>
          <a:xfrm>
            <a:off x="1597819" y="6195448"/>
            <a:ext cx="1323975" cy="204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Липень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202</a:t>
            </a:r>
            <a:r>
              <a:rPr lang="uk-UA" sz="1350" kern="0" spc="-27" dirty="0">
                <a:solidFill>
                  <a:srgbClr val="000000">
                    <a:alpha val="99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13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0C75D85-2A5D-DD1F-D6A7-6A958F760998}"/>
              </a:ext>
            </a:extLst>
          </p:cNvPr>
          <p:cNvSpPr/>
          <p:nvPr/>
        </p:nvSpPr>
        <p:spPr>
          <a:xfrm>
            <a:off x="639094" y="2112634"/>
            <a:ext cx="7089061" cy="10926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dirty="0"/>
              <a:t>Результати розробки застосунку </a:t>
            </a:r>
            <a:r>
              <a:rPr lang="uk-UA" dirty="0" err="1"/>
              <a:t>DesignScout</a:t>
            </a:r>
            <a:r>
              <a:rPr lang="uk-UA" dirty="0"/>
              <a:t> були представлені та апробовані в рамках 2-ї Міжнародної науково-практичної конференції «Сучасні інформаційні технології та системи штучного інтелекту MIT&amp;AIS-2026» (м. Харків, 2026 р.) у вигляді тез доповіді. </a:t>
            </a:r>
            <a:endParaRPr lang="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126F77-62BB-6215-4152-D5112F5C2BBB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076822" y="1785353"/>
            <a:ext cx="3299964" cy="481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3713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704</Words>
  <Application>Microsoft Office PowerPoint</Application>
  <PresentationFormat>Широкоэкранный</PresentationFormat>
  <Paragraphs>69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Cormorant Garamond</vt:lpstr>
      <vt:lpstr>Inter</vt:lpstr>
      <vt:lpstr>Times New Roman</vt:lpstr>
      <vt:lpstr>Тема Office</vt:lpstr>
      <vt:lpstr>Мобільний застосунок для навчання UX/UI дизайну з функцією автоматизованого ШІ-аналізу інтерфейсів</vt:lpstr>
      <vt:lpstr>Мета роботи</vt:lpstr>
      <vt:lpstr>Аналіз предметної галузі</vt:lpstr>
      <vt:lpstr>Постановка задачі</vt:lpstr>
      <vt:lpstr>Вибір технологій розробки</vt:lpstr>
      <vt:lpstr>Архітектура створенного програмного забезпечення</vt:lpstr>
      <vt:lpstr>Приклади найцікавіших методів</vt:lpstr>
      <vt:lpstr>Тестування</vt:lpstr>
      <vt:lpstr>Дизайн розробленого застосунку</vt:lpstr>
      <vt:lpstr>Приклад реалізації</vt:lpstr>
      <vt:lpstr>Інтерфейс користувача</vt:lpstr>
      <vt:lpstr>Підсумки</vt:lpstr>
      <vt:lpstr>Впровадження програмного запезпечення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Аліна Таранова</dc:creator>
  <cp:lastModifiedBy>Аліна Таранова</cp:lastModifiedBy>
  <cp:revision>3</cp:revision>
  <dcterms:created xsi:type="dcterms:W3CDTF">2026-07-07T12:08:33Z</dcterms:created>
  <dcterms:modified xsi:type="dcterms:W3CDTF">2026-07-08T17:10:44Z</dcterms:modified>
</cp:coreProperties>
</file>