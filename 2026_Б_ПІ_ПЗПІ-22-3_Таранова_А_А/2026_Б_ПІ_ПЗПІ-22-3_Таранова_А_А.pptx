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70" r:id="rId8"/>
    <p:sldId id="271" r:id="rId9"/>
    <p:sldId id="272" r:id="rId10"/>
    <p:sldId id="263" r:id="rId11"/>
    <p:sldId id="264" r:id="rId12"/>
    <p:sldId id="265" r:id="rId13"/>
    <p:sldId id="268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87645-F7EC-A196-AD2D-550F95D4E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DF9AD-49DD-4169-580C-49FE76AE3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F6E59-9E80-4FF6-DE99-727E048E0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88AF-BB3A-48DB-8A87-29E7B1EDA09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5124E-1643-D56C-2CFA-4B22B8B4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B1480-9DF4-C526-C971-E94DA49F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78FF-3ECF-4A6A-B338-953AE91B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998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0080-496D-45F4-0CBD-DBC1ED8A2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95BCA-CE91-C404-2D45-4ABFDC83D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9047F-2850-6BC1-EA46-D29AEA2D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88AF-BB3A-48DB-8A87-29E7B1EDA09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DC723-A9F5-E563-F15A-DF6E86C95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85CEE-E892-C363-64C2-0F68763A8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78FF-3ECF-4A6A-B338-953AE91B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87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818D8-A890-C5C3-598A-2AB3E0DE1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C4B1B-6FE6-FD39-309D-C26660B52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F29E4-36D2-F980-9143-B6A136D5D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88AF-BB3A-48DB-8A87-29E7B1EDA09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DD66E-018A-A359-9E9C-AF8A01236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1978F-1272-39CC-DA2A-734492984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78FF-3ECF-4A6A-B338-953AE91B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211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E7FF-D580-510E-8659-374F0CC4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A2E2A-E0A0-6584-BDBB-BD5ED2EC3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DC1273-4C97-2DD8-06E2-0C74B1487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EAAA2-D2E7-3F22-7307-E659F68D3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88AF-BB3A-48DB-8A87-29E7B1EDA09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29FBD-968A-D26F-04CE-63FA6B69B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69B82-CE4C-2F02-2A2F-F2A014CA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78FF-3ECF-4A6A-B338-953AE91B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124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261FA-943D-93E9-DF2A-1DA01E507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0B1A8-1963-43F0-A2CA-FEC769895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DA3D8-4D49-DD82-B664-E3C3ADB77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62DA6C-8177-4204-0CD3-9905687FF0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4B91A2-90B8-1F96-227C-F531062199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51D3D-C275-7EC9-E595-10223372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88AF-BB3A-48DB-8A87-29E7B1EDA09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6182CB-F986-98C2-9307-1D356BEA5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4370D2-4EAA-8B0B-41FE-968220EBE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78FF-3ECF-4A6A-B338-953AE91B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575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8A00F-4F8D-BDE2-8129-81EADC67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2271C5-C250-DB8E-AA0D-41FF7ADD1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88AF-BB3A-48DB-8A87-29E7B1EDA09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F187BA-968D-7C59-3006-1D8B7A769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EF1E4-E2F9-A208-16D5-6C0DACF5F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78FF-3ECF-4A6A-B338-953AE91B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58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65625B-A905-56A7-48E6-D6AE4D6AF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88AF-BB3A-48DB-8A87-29E7B1EDA09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770BA9-18DD-2730-1175-EBA3AA5E8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47CFF-31C0-4135-4944-90A17406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78FF-3ECF-4A6A-B338-953AE91B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431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49627-B2F6-9412-DDF6-3CBB1B890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64F0D-EBB0-96A7-8C40-9294D6F17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25E77-2FB3-3668-7426-F2DB043A1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86255-406B-326F-928B-2F074BF92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88AF-BB3A-48DB-8A87-29E7B1EDA09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E6287-8698-DA74-2CB6-C1A13D1BD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0FF67-A716-05BD-0546-EAB8C225A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78FF-3ECF-4A6A-B338-953AE91B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646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3AAAD-1DCB-5F75-D3E0-D3F49CC75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C4EF6D-039E-9B4D-5C5F-39E1F70F85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9EBC0-2768-1ADD-CE90-F46BEE330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87603-449E-B8E3-07A2-E8AD95F03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88AF-BB3A-48DB-8A87-29E7B1EDA09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E4638-EC8B-1056-5D7F-B11282908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FC220-0A77-A1CF-41EE-F08410D30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78FF-3ECF-4A6A-B338-953AE91B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573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79907-82EC-BB85-557F-DD925C1F0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E3347-5451-7C3E-CC96-571E18588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D1992-87E9-2448-3403-B74F53AC2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88AF-BB3A-48DB-8A87-29E7B1EDA09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F4B8D-1790-822A-45C9-ABF818F61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2F6FA-2E36-84FA-E5FD-4AABBCDA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78FF-3ECF-4A6A-B338-953AE91B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81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663843-5FC7-A448-C9CA-D54F271F62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4142F2-710E-1B2E-0B25-046FF5388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20B8A-1223-3857-D8F7-84F794FD9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88AF-BB3A-48DB-8A87-29E7B1EDA09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EAAFE-FB89-7CC0-6641-25B205B99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D6538-A10E-AF77-74D3-EE6B0DCF1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78FF-3ECF-4A6A-B338-953AE91B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819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8DBD4C-7D1C-3B8E-3EC1-81C39D9A2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E8ABD-FF64-A9AF-52EE-98352A9D8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DB3A3-F378-8CFF-9ABF-D4864428D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0088AF-BB3A-48DB-8A87-29E7B1EDA091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CB85E-AB5A-FB57-46FD-C7637BDF0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80096-7A71-0BC2-E945-D9E89A593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A78FF-3ECF-4A6A-B338-953AE91B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559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2.png"/><Relationship Id="rId7" Type="http://schemas.openxmlformats.org/officeDocument/2006/relationships/image" Target="../media/image1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2.png"/><Relationship Id="rId7" Type="http://schemas.openxmlformats.org/officeDocument/2006/relationships/image" Target="../media/image1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BF46F8-8300-81B0-478A-7F4659DED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73508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uk-UA" sz="3600" dirty="0"/>
              <a:t>Мобільний застосунок для навчання UX/UI дизайну з функцією автоматизованого ШІ-аналізу інтерфейсів</a:t>
            </a:r>
            <a:endParaRPr lang="LID4096" sz="3600" dirty="0">
              <a:latin typeface="Inter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DA63FD6-59E7-1311-C321-20CFCB4CF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3CC41641-0463-7A04-ED99-245D10545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4FD53B0A-312E-ADBD-6161-36540FE1D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B94B5A43-F2E9-91D9-B96F-18A3852B9CD3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FE665F3-6F39-667E-BF2B-36DD0B110B27}"/>
              </a:ext>
            </a:extLst>
          </p:cNvPr>
          <p:cNvSpPr/>
          <p:nvPr/>
        </p:nvSpPr>
        <p:spPr>
          <a:xfrm>
            <a:off x="1524000" y="4559633"/>
            <a:ext cx="7739063" cy="238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b="1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Виконала:</a:t>
            </a:r>
            <a:r>
              <a:rPr lang="en-US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Таранова Аліна</a:t>
            </a:r>
            <a:fld id="{A77390FB-7419-4D37-8E1F-367376774071}" type="slidenum">
              <a:rPr lang="en-US" kern="0" spc="-13" smtClean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fld>
            <a:r>
              <a:rPr lang="en-US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ПЗПІ-22-3</a:t>
            </a: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D714314-10D7-3EA8-3B21-E76C1338C7B2}"/>
              </a:ext>
            </a:extLst>
          </p:cNvPr>
          <p:cNvSpPr/>
          <p:nvPr/>
        </p:nvSpPr>
        <p:spPr>
          <a:xfrm>
            <a:off x="1524000" y="4912058"/>
            <a:ext cx="7739063" cy="238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b="1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Керівник</a:t>
            </a:r>
            <a:r>
              <a:rPr lang="en-US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доц. кафедри ПІ </a:t>
            </a:r>
            <a:r>
              <a:rPr lang="uk-UA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Ірина </a:t>
            </a:r>
            <a:r>
              <a:rPr lang="uk-UA" kern="0" spc="-13" dirty="0" err="1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Груздо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9CBE83A-172B-811C-6A36-0B733D50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1</a:t>
            </a:fld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30F74A-1634-1D3B-CE80-21989289F946}"/>
              </a:ext>
            </a:extLst>
          </p:cNvPr>
          <p:cNvSpPr/>
          <p:nvPr/>
        </p:nvSpPr>
        <p:spPr>
          <a:xfrm>
            <a:off x="10835148" y="6105832"/>
            <a:ext cx="1009189" cy="615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781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849A4-B59F-2EDA-2392-5ACD7E3DB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ADC40-52BA-621B-7D54-8FC9C478A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6013" y="1288101"/>
            <a:ext cx="9144000" cy="514350"/>
          </a:xfrm>
        </p:spPr>
        <p:txBody>
          <a:bodyPr>
            <a:noAutofit/>
          </a:bodyPr>
          <a:lstStyle/>
          <a:p>
            <a:pPr algn="l"/>
            <a:r>
              <a:rPr lang="uk-UA" sz="3600" b="1" dirty="0"/>
              <a:t>Мета роботи</a:t>
            </a:r>
            <a:endParaRPr lang="" sz="3600" b="1" dirty="0">
              <a:latin typeface="Cormorant Garamond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4A1B6A9-536A-E737-1EA5-C8BDB2857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22018474-B98A-7521-13B4-57125034B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26309EED-DEEB-C7EC-BA95-83ADED5CB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730DD294-0365-B7F0-9999-25F5C8274016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0E823F4-E18D-2FB9-54B2-431CCBDB5847}"/>
              </a:ext>
            </a:extLst>
          </p:cNvPr>
          <p:cNvSpPr/>
          <p:nvPr/>
        </p:nvSpPr>
        <p:spPr>
          <a:xfrm>
            <a:off x="1406013" y="1916098"/>
            <a:ext cx="9340645" cy="1116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2400" dirty="0"/>
              <a:t>Мета розробки: створення мобільного застосунку, для навчання UX/UI дизайну з функцією ШІ-аналізу інтерфейсів.</a:t>
            </a:r>
            <a:endParaRPr lang="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4241009-6F62-353E-C098-DF7EC66EC245}"/>
              </a:ext>
            </a:extLst>
          </p:cNvPr>
          <p:cNvSpPr/>
          <p:nvPr/>
        </p:nvSpPr>
        <p:spPr>
          <a:xfrm>
            <a:off x="1406013" y="3146321"/>
            <a:ext cx="9340645" cy="22390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2400" dirty="0"/>
              <a:t>Актуальність теми: сьогодні в Україні немає застосунку, який би вирішував задачі інтерактивного навчання UX/UI дизайну, використовував би сучасні технології штучного інтелекту для автоматизованого аналізу інтерфейсів та враховував би відповідність світовим принципам юзабіліті й цифрової доступності.</a:t>
            </a:r>
            <a:endParaRPr lang="" sz="24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9FFA2AC-9175-7A67-7C8F-EBDE327A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8917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50661-34E9-9D3D-6AD2-D4B1844C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09E021-99F7-17D5-049E-C614B7B88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6013" y="1242032"/>
            <a:ext cx="9144000" cy="514350"/>
          </a:xfrm>
        </p:spPr>
        <p:txBody>
          <a:bodyPr>
            <a:noAutofit/>
          </a:bodyPr>
          <a:lstStyle/>
          <a:p>
            <a:pPr algn="l"/>
            <a:r>
              <a:rPr lang="uk-UA" sz="3600" b="1" dirty="0"/>
              <a:t>Аналіз предметної галузі</a:t>
            </a:r>
            <a:endParaRPr lang="" sz="3600" b="1" dirty="0">
              <a:latin typeface="Cormorant Garamond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4F8C8D5-5AE0-3373-2FB8-F176131CE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819A83DE-5C56-1833-2B31-ACEF88B2F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98467BD1-A5D8-DF97-E460-555EC81FA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6386FCA3-E273-F8C5-BC54-398B04DE2AD0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E64CF7E-B970-6D1A-5E82-DD7D28A39C65}"/>
              </a:ext>
            </a:extLst>
          </p:cNvPr>
          <p:cNvSpPr/>
          <p:nvPr/>
        </p:nvSpPr>
        <p:spPr>
          <a:xfrm>
            <a:off x="1406013" y="1756382"/>
            <a:ext cx="9340645" cy="1116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2400" dirty="0"/>
              <a:t>Розглянуті існуючі аналоги: </a:t>
            </a:r>
            <a:r>
              <a:rPr lang="uk-UA" sz="2400" dirty="0" err="1"/>
              <a:t>Figma</a:t>
            </a:r>
            <a:r>
              <a:rPr lang="uk-UA" sz="2400" dirty="0"/>
              <a:t> </a:t>
            </a:r>
            <a:r>
              <a:rPr lang="uk-UA" sz="2400" dirty="0" err="1"/>
              <a:t>Learn</a:t>
            </a:r>
            <a:r>
              <a:rPr lang="uk-UA" sz="2400" dirty="0"/>
              <a:t> та </a:t>
            </a:r>
            <a:r>
              <a:rPr lang="uk-UA" sz="2400" dirty="0" err="1"/>
              <a:t>Figma</a:t>
            </a:r>
            <a:r>
              <a:rPr lang="uk-UA" sz="2400" dirty="0"/>
              <a:t> </a:t>
            </a:r>
            <a:r>
              <a:rPr lang="uk-UA" sz="2400" dirty="0" err="1"/>
              <a:t>Community</a:t>
            </a:r>
            <a:r>
              <a:rPr lang="uk-UA" sz="2400" dirty="0"/>
              <a:t>, </a:t>
            </a:r>
            <a:r>
              <a:rPr lang="uk-UA" sz="2400" dirty="0" err="1"/>
              <a:t>Coursera</a:t>
            </a:r>
            <a:r>
              <a:rPr lang="uk-UA" sz="2400" dirty="0"/>
              <a:t> та </a:t>
            </a:r>
            <a:r>
              <a:rPr lang="uk-UA" sz="2400" dirty="0" err="1"/>
              <a:t>Udemy</a:t>
            </a:r>
            <a:r>
              <a:rPr lang="uk-UA" sz="2400" dirty="0"/>
              <a:t>, </a:t>
            </a:r>
            <a:r>
              <a:rPr lang="uk-UA" sz="2400" dirty="0" err="1"/>
              <a:t>Uxcel</a:t>
            </a:r>
            <a:r>
              <a:rPr lang="uk-UA" sz="2400" dirty="0"/>
              <a:t> </a:t>
            </a:r>
            <a:r>
              <a:rPr lang="uk-UA" sz="2400" dirty="0" err="1"/>
              <a:t>Go</a:t>
            </a:r>
            <a:r>
              <a:rPr lang="uk-UA" sz="2400" dirty="0"/>
              <a:t>, </a:t>
            </a:r>
            <a:r>
              <a:rPr lang="uk-UA" sz="2400" dirty="0" err="1"/>
              <a:t>Google</a:t>
            </a:r>
            <a:r>
              <a:rPr lang="uk-UA" sz="2400" dirty="0"/>
              <a:t> UX </a:t>
            </a:r>
            <a:r>
              <a:rPr lang="uk-UA" sz="2400" dirty="0" err="1"/>
              <a:t>Design</a:t>
            </a:r>
            <a:r>
              <a:rPr lang="uk-UA" sz="2400" dirty="0"/>
              <a:t> </a:t>
            </a:r>
            <a:r>
              <a:rPr lang="uk-UA" sz="2400" dirty="0" err="1"/>
              <a:t>Certificate</a:t>
            </a:r>
            <a:r>
              <a:rPr lang="uk-UA" sz="2400" dirty="0"/>
              <a:t>   </a:t>
            </a:r>
            <a:endParaRPr lang="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BBD45D3-4EEB-3868-A71D-CF84843ED58A}"/>
              </a:ext>
            </a:extLst>
          </p:cNvPr>
          <p:cNvSpPr/>
          <p:nvPr/>
        </p:nvSpPr>
        <p:spPr>
          <a:xfrm>
            <a:off x="1406012" y="2812876"/>
            <a:ext cx="9340645" cy="634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Вітчизняних мобільних додатків для навчання саме UX/UI-дизайну на момент аналізу не виявлено взагалі. </a:t>
            </a:r>
            <a:endParaRPr lang="" sz="24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018899D3-27B5-D4A5-9D24-75D8CC7686B2}"/>
              </a:ext>
            </a:extLst>
          </p:cNvPr>
          <p:cNvSpPr/>
          <p:nvPr/>
        </p:nvSpPr>
        <p:spPr>
          <a:xfrm>
            <a:off x="1406012" y="3726739"/>
            <a:ext cx="9340645" cy="2374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2400" dirty="0"/>
              <a:t>Виявлені проблеми:</a:t>
            </a:r>
          </a:p>
          <a:p>
            <a:r>
              <a:rPr lang="uk-UA" sz="24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/>
              <a:t>Відсутність сучасних мобільних інструментів для інтерактивного та практичного навчання.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/>
              <a:t>Відсутність швидкого способу отримання якісного фідбеку на розроблені користувачем інтерфейси.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/>
              <a:t>Недостатній рівень мотивації через відсутність ігрових та персоналізованих елементів.</a:t>
            </a:r>
          </a:p>
          <a:p>
            <a:endParaRPr lang="" sz="24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D1CB763-D03B-E6DD-1765-0DCC0A4F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0840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B7F8B-4B38-1462-436A-3D441C14D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DA4A7B-DABE-7A86-1455-89519A899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1288101"/>
            <a:ext cx="9144000" cy="514350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Постановка задачі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2055142-D17C-1310-8F2E-4E3E928E6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B32CF9BA-6FAC-6280-D1CE-B6D48082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A0A4A289-0952-80DA-CDD9-E6602E650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C393BB96-9555-70C7-7B99-FAEE0870461C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52E78DE-1E3B-2773-AFB9-1EEC7DD0EA0F}"/>
              </a:ext>
            </a:extLst>
          </p:cNvPr>
          <p:cNvSpPr/>
          <p:nvPr/>
        </p:nvSpPr>
        <p:spPr>
          <a:xfrm>
            <a:off x="639097" y="1916098"/>
            <a:ext cx="9340645" cy="1116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2400" dirty="0"/>
              <a:t>Задача: проєктування та розробка </a:t>
            </a:r>
            <a:r>
              <a:rPr lang="uk-UA" sz="2400" dirty="0" err="1"/>
              <a:t>кросплатформного</a:t>
            </a:r>
            <a:r>
              <a:rPr lang="uk-UA" sz="2400" dirty="0"/>
              <a:t> мобільного застосунку «</a:t>
            </a:r>
            <a:r>
              <a:rPr lang="uk-UA" sz="2400" dirty="0" err="1"/>
              <a:t>DesignScout</a:t>
            </a:r>
            <a:r>
              <a:rPr lang="uk-UA" sz="2400" dirty="0"/>
              <a:t>» для навчання UX/UI дизайну у форматі MVP (</a:t>
            </a:r>
            <a:r>
              <a:rPr lang="uk-UA" sz="2400" dirty="0" err="1"/>
              <a:t>Minimum</a:t>
            </a:r>
            <a:r>
              <a:rPr lang="uk-UA" sz="2400" dirty="0"/>
              <a:t> </a:t>
            </a:r>
            <a:r>
              <a:rPr lang="uk-UA" sz="2400" dirty="0" err="1"/>
              <a:t>Viable</a:t>
            </a:r>
            <a:r>
              <a:rPr lang="uk-UA" sz="2400" dirty="0"/>
              <a:t> </a:t>
            </a:r>
            <a:r>
              <a:rPr lang="uk-UA" sz="2400" dirty="0" err="1"/>
              <a:t>Product</a:t>
            </a:r>
            <a:r>
              <a:rPr lang="uk-UA" sz="2400" dirty="0"/>
              <a:t>).</a:t>
            </a:r>
            <a:endParaRPr lang="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8586890-F389-FAA4-D60A-9BE7C198ACF2}"/>
              </a:ext>
            </a:extLst>
          </p:cNvPr>
          <p:cNvSpPr/>
          <p:nvPr/>
        </p:nvSpPr>
        <p:spPr>
          <a:xfrm>
            <a:off x="639097" y="3022981"/>
            <a:ext cx="9340645" cy="22390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2400" dirty="0"/>
              <a:t>Критерії успішності:</a:t>
            </a:r>
          </a:p>
          <a:p>
            <a:endParaRPr lang="uk-UA" sz="2400" dirty="0"/>
          </a:p>
          <a:p>
            <a:pPr marL="342900" indent="-342900">
              <a:buFont typeface="+mj-lt"/>
              <a:buAutoNum type="arabicPeriod"/>
            </a:pPr>
            <a:r>
              <a:rPr lang="uk-UA" dirty="0"/>
              <a:t>Наявність стабільного демонстраційного прототипу з реалізованими базовими функціями. 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/>
              <a:t>Відповідність програмного коду архітектурним стандартам мобільних додатків. 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/>
              <a:t>Успішне проходження основних користувацьких сценаріїв.</a:t>
            </a:r>
            <a:endParaRPr lang="" sz="24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F810E2E-69C4-D8AE-B8B6-0D544AFD5F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419" y="1635103"/>
            <a:ext cx="2045110" cy="438045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76948AC-7300-69A9-754E-8FFDD9498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9487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07CF1-3890-0F4E-F952-D4452D05B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EE6156-3C2B-9A91-3AF5-D3918CF7A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1288101"/>
            <a:ext cx="9144000" cy="514350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Вибір технологій розробки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749C472-FBA9-5354-49FD-308A9989A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78EAEFE7-6C4D-D1BB-C3E4-10BA49A54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3AC42B74-01F7-7BFA-98FF-B8EC55BEE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DD38204D-1E2C-FB15-7D47-51A742174293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BBB5454-441D-2454-EEBD-BC4BE4BDC9CB}"/>
              </a:ext>
            </a:extLst>
          </p:cNvPr>
          <p:cNvSpPr/>
          <p:nvPr/>
        </p:nvSpPr>
        <p:spPr>
          <a:xfrm>
            <a:off x="639097" y="2117840"/>
            <a:ext cx="9340645" cy="22036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60"/>
              </a:lnSpc>
              <a:buSzPct val="100000"/>
            </a:pPr>
            <a:r>
              <a:rPr lang="uk-UA" sz="2400" dirty="0"/>
              <a:t>Технічна реалізація проєкту передбачає побудову клієнтської частини застосунку з використанням фреймворку </a:t>
            </a:r>
            <a:r>
              <a:rPr lang="uk-UA" sz="2400" dirty="0" err="1"/>
              <a:t>React</a:t>
            </a:r>
            <a:r>
              <a:rPr lang="uk-UA" sz="2400" dirty="0"/>
              <a:t> </a:t>
            </a:r>
            <a:r>
              <a:rPr lang="uk-UA" sz="2400" dirty="0" err="1"/>
              <a:t>Native</a:t>
            </a:r>
            <a:r>
              <a:rPr lang="uk-UA" sz="2400" dirty="0"/>
              <a:t> (мовою </a:t>
            </a:r>
            <a:r>
              <a:rPr lang="uk-UA" sz="2400" dirty="0" err="1"/>
              <a:t>TypeScript</a:t>
            </a:r>
            <a:r>
              <a:rPr lang="uk-UA" sz="2400" dirty="0"/>
              <a:t>) та середовища Expo (керований </a:t>
            </a:r>
            <a:r>
              <a:rPr lang="uk-UA" sz="2400" dirty="0" err="1"/>
              <a:t>workflow</a:t>
            </a:r>
            <a:r>
              <a:rPr lang="uk-UA" sz="2400" dirty="0"/>
              <a:t>), що дозволить забезпечити єдину кодову базу для операційних систем </a:t>
            </a:r>
            <a:r>
              <a:rPr lang="uk-UA" sz="2400" dirty="0" err="1"/>
              <a:t>Android</a:t>
            </a:r>
            <a:r>
              <a:rPr lang="uk-UA" sz="2400" dirty="0"/>
              <a:t> та </a:t>
            </a:r>
            <a:r>
              <a:rPr lang="uk-UA" sz="2400" dirty="0" err="1"/>
              <a:t>iOS</a:t>
            </a:r>
            <a:r>
              <a:rPr lang="uk-UA" sz="2400" dirty="0"/>
              <a:t>. </a:t>
            </a:r>
            <a:endParaRPr lang="en-US" sz="2400" dirty="0"/>
          </a:p>
          <a:p>
            <a:pPr>
              <a:lnSpc>
                <a:spcPts val="2160"/>
              </a:lnSpc>
              <a:buSzPct val="100000"/>
            </a:pP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Figma — </a:t>
            </a:r>
            <a:r>
              <a:rPr lang="en-US" sz="2400" kern="0" spc="-36" dirty="0" err="1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основний</a:t>
            </a: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400" kern="0" spc="-36" dirty="0" err="1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інструмент</a:t>
            </a: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400" kern="0" spc="-36" dirty="0" err="1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для</a:t>
            </a: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400" kern="0" spc="-36" dirty="0" err="1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створення</a:t>
            </a: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 UX/UI-</a:t>
            </a:r>
            <a:r>
              <a:rPr lang="en-US" sz="2400" kern="0" spc="-36" dirty="0" err="1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дизайну</a:t>
            </a: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400" kern="0" spc="-36" dirty="0" err="1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та</a:t>
            </a: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400" kern="0" spc="-36" dirty="0" err="1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інтерактивних</a:t>
            </a: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400" kern="0" spc="-36" dirty="0" err="1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прототипів</a:t>
            </a:r>
            <a:r>
              <a:rPr lang="uk-UA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 </a:t>
            </a:r>
            <a:endParaRPr lang="uk-UA" sz="2400" kern="0" spc="-36" dirty="0">
              <a:solidFill>
                <a:srgbClr val="000000">
                  <a:alpha val="99000"/>
                </a:srgbClr>
              </a:solidFill>
              <a:ea typeface="Times New Roman" pitchFamily="34" charset="-122"/>
              <a:cs typeface="Times New Roman" pitchFamily="34" charset="-120"/>
            </a:endParaRPr>
          </a:p>
        </p:txBody>
      </p:sp>
      <p:pic>
        <p:nvPicPr>
          <p:cNvPr id="3" name="Image 4" descr="preencoded.png">
            <a:extLst>
              <a:ext uri="{FF2B5EF4-FFF2-40B4-BE49-F238E27FC236}">
                <a16:creationId xmlns:a16="http://schemas.microsoft.com/office/drawing/2014/main" id="{BE9C8547-FDD1-DEAC-0726-D7B00631BC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9742" y="1424896"/>
            <a:ext cx="1385888" cy="1385888"/>
          </a:xfrm>
          <a:prstGeom prst="rect">
            <a:avLst/>
          </a:prstGeom>
        </p:spPr>
      </p:pic>
      <p:pic>
        <p:nvPicPr>
          <p:cNvPr id="1026" name="Picture 2" descr="Expo Go — скачать для Android 5,0☆ бесплатно 📱 в RuStore">
            <a:extLst>
              <a:ext uri="{FF2B5EF4-FFF2-40B4-BE49-F238E27FC236}">
                <a16:creationId xmlns:a16="http://schemas.microsoft.com/office/drawing/2014/main" id="{392A3FEF-E9A5-7B5C-B002-635193EBA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097" y="3692720"/>
            <a:ext cx="1888254" cy="1888254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act Native: Mobile Apps for Android &amp; iOS | iQuest">
            <a:extLst>
              <a:ext uri="{FF2B5EF4-FFF2-40B4-BE49-F238E27FC236}">
                <a16:creationId xmlns:a16="http://schemas.microsoft.com/office/drawing/2014/main" id="{888C1225-8C12-F754-1435-7B9B166AF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836" y="4896888"/>
            <a:ext cx="2132064" cy="1400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2442F43-B459-23BA-3BD8-6D4A7133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0764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D217B-76D4-2A73-5D7A-CBA23E00D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77F7C63-C63B-6422-B47F-82B13D1C3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3725671"/>
            <a:ext cx="3716594" cy="25833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E8A18-2E93-BDDA-C04E-688AA181E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972737"/>
            <a:ext cx="9144000" cy="1145103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Архітектура </a:t>
            </a:r>
            <a:r>
              <a:rPr lang="uk-UA" sz="3600" b="1" dirty="0" err="1"/>
              <a:t>створенного</a:t>
            </a:r>
            <a:r>
              <a:rPr lang="uk-UA" sz="3600" b="1" dirty="0"/>
              <a:t> програмного забезпечення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34FECC4-B8C2-3E28-FE6C-564371FF4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64A9097A-6EA7-A136-9DA0-B1CC21EA7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25B12349-8DC8-96AE-0012-E8E4D7BFF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1299D070-C007-9A64-4CBF-DD662C793F73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801AF0C-BBEA-2456-35CF-2CF552635FF1}"/>
              </a:ext>
            </a:extLst>
          </p:cNvPr>
          <p:cNvSpPr/>
          <p:nvPr/>
        </p:nvSpPr>
        <p:spPr>
          <a:xfrm>
            <a:off x="588822" y="3585073"/>
            <a:ext cx="7739100" cy="1011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60"/>
              </a:lnSpc>
              <a:buSzPct val="100000"/>
            </a:pPr>
            <a:r>
              <a:rPr lang="uk-UA" dirty="0"/>
              <a:t>Основні екрани: </a:t>
            </a:r>
            <a:r>
              <a:rPr lang="uk-UA" dirty="0" err="1"/>
              <a:t>HomeScreen</a:t>
            </a:r>
            <a:r>
              <a:rPr lang="uk-UA" dirty="0"/>
              <a:t>, </a:t>
            </a:r>
            <a:r>
              <a:rPr lang="uk-UA" dirty="0" err="1"/>
              <a:t>WelcomeScreen</a:t>
            </a:r>
            <a:r>
              <a:rPr lang="uk-UA" dirty="0"/>
              <a:t>, </a:t>
            </a:r>
            <a:r>
              <a:rPr lang="uk-UA" dirty="0" err="1"/>
              <a:t>LessonsScreen</a:t>
            </a:r>
            <a:r>
              <a:rPr lang="uk-UA" dirty="0"/>
              <a:t>, </a:t>
            </a:r>
            <a:r>
              <a:rPr lang="uk-UA" dirty="0" err="1"/>
              <a:t>LessonDetailScreen</a:t>
            </a:r>
            <a:r>
              <a:rPr lang="uk-UA" dirty="0"/>
              <a:t>, </a:t>
            </a:r>
            <a:r>
              <a:rPr lang="uk-UA" dirty="0" err="1"/>
              <a:t>QuizScreen</a:t>
            </a:r>
            <a:r>
              <a:rPr lang="uk-UA" dirty="0"/>
              <a:t>, </a:t>
            </a:r>
            <a:r>
              <a:rPr lang="uk-UA" dirty="0" err="1"/>
              <a:t>PracticeScreen</a:t>
            </a:r>
            <a:r>
              <a:rPr lang="uk-UA" dirty="0"/>
              <a:t>, </a:t>
            </a:r>
            <a:r>
              <a:rPr lang="uk-UA" dirty="0" err="1"/>
              <a:t>AnalysisScreen</a:t>
            </a:r>
            <a:r>
              <a:rPr lang="uk-UA" dirty="0"/>
              <a:t>, </a:t>
            </a:r>
            <a:r>
              <a:rPr lang="uk-UA" dirty="0" err="1"/>
              <a:t>AnalysisResultScreen</a:t>
            </a:r>
            <a:r>
              <a:rPr lang="uk-UA" dirty="0"/>
              <a:t>, </a:t>
            </a:r>
            <a:r>
              <a:rPr lang="uk-UA" dirty="0" err="1"/>
              <a:t>ProfileScreen</a:t>
            </a:r>
            <a:r>
              <a:rPr lang="uk-UA" dirty="0"/>
              <a:t> та </a:t>
            </a:r>
            <a:r>
              <a:rPr lang="uk-UA" dirty="0" err="1"/>
              <a:t>SettingsScreen</a:t>
            </a:r>
            <a:endParaRPr lang="uk-UA" sz="2400" kern="0" spc="-36" dirty="0">
              <a:solidFill>
                <a:srgbClr val="000000">
                  <a:alpha val="99000"/>
                </a:srgbClr>
              </a:solidFill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64C96C8-33A5-64D8-276E-4D59DF9EDB93}"/>
              </a:ext>
            </a:extLst>
          </p:cNvPr>
          <p:cNvSpPr/>
          <p:nvPr/>
        </p:nvSpPr>
        <p:spPr>
          <a:xfrm>
            <a:off x="588822" y="4712122"/>
            <a:ext cx="5958348" cy="434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60"/>
              </a:lnSpc>
              <a:buSzPct val="100000"/>
            </a:pPr>
            <a:r>
              <a:rPr lang="uk-UA" dirty="0"/>
              <a:t>Головна навігація: нижній </a:t>
            </a:r>
            <a:r>
              <a:rPr lang="uk-UA" dirty="0" err="1"/>
              <a:t>таб</a:t>
            </a:r>
            <a:r>
              <a:rPr lang="uk-UA" dirty="0"/>
              <a:t>-бар</a:t>
            </a:r>
            <a:endParaRPr lang="uk-UA" sz="2400" kern="0" spc="-36" dirty="0">
              <a:solidFill>
                <a:srgbClr val="000000">
                  <a:alpha val="99000"/>
                </a:srgbClr>
              </a:solidFill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947F379-1867-1230-B607-EF7DD9D4CF58}"/>
              </a:ext>
            </a:extLst>
          </p:cNvPr>
          <p:cNvSpPr/>
          <p:nvPr/>
        </p:nvSpPr>
        <p:spPr>
          <a:xfrm>
            <a:off x="588822" y="2064338"/>
            <a:ext cx="11141062" cy="156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Архітектура </a:t>
            </a:r>
            <a:r>
              <a:rPr lang="uk-UA" dirty="0" err="1"/>
              <a:t>DesignScout</a:t>
            </a:r>
            <a:r>
              <a:rPr lang="uk-UA" dirty="0"/>
              <a:t> побудована за клієнт-серверною моделлю, де клієнтською частиною є мобільний застосунок на базі </a:t>
            </a:r>
            <a:r>
              <a:rPr lang="uk-UA" dirty="0" err="1"/>
              <a:t>React</a:t>
            </a:r>
            <a:r>
              <a:rPr lang="uk-UA" dirty="0"/>
              <a:t> </a:t>
            </a:r>
            <a:r>
              <a:rPr lang="uk-UA" dirty="0" err="1"/>
              <a:t>Native</a:t>
            </a:r>
            <a:r>
              <a:rPr lang="uk-UA" dirty="0"/>
              <a:t>, а серверною – веб‑сервіс, реалізований за допомогою </a:t>
            </a:r>
            <a:r>
              <a:rPr lang="uk-UA" dirty="0" err="1"/>
              <a:t>Python</a:t>
            </a:r>
            <a:r>
              <a:rPr lang="uk-UA" dirty="0"/>
              <a:t> та фреймворку </a:t>
            </a:r>
            <a:r>
              <a:rPr lang="uk-UA" dirty="0" err="1"/>
              <a:t>FastAPI</a:t>
            </a:r>
            <a:r>
              <a:rPr lang="uk-UA" dirty="0"/>
              <a:t>. Взаємодія між клієнтом та сервером здійснюється через HTTP з використанням REST API, передача даних виконується у форматі JSON, що спрощує інтеграцію та налагодження.</a:t>
            </a:r>
            <a:endParaRPr lang="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C61181B-BD31-C85A-853D-A63C09125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6626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EA144-0B76-EAA0-C794-1CE2D18A2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ED66EE-0FA3-DD1B-6A60-5A8AE2C76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1024484"/>
            <a:ext cx="10127226" cy="616845"/>
          </a:xfrm>
        </p:spPr>
        <p:txBody>
          <a:bodyPr>
            <a:noAutofit/>
          </a:bodyPr>
          <a:lstStyle/>
          <a:p>
            <a:pPr lvl="1"/>
            <a:r>
              <a:rPr lang="en-US" sz="3600" b="1" dirty="0"/>
              <a:t>UML-</a:t>
            </a:r>
            <a:r>
              <a:rPr lang="uk-UA" sz="3600" b="1" dirty="0"/>
              <a:t>проєктування: діаграма компонентів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B70DD4B-9C39-4441-4A87-226C44297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18588F69-8497-4408-2971-6779933D9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43F53714-4BB5-CC23-7D52-1624276F0185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929BB45-DE40-920B-F9AD-5FCEAD6B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7</a:t>
            </a:fld>
            <a:endParaRPr lang="LID4096"/>
          </a:p>
        </p:txBody>
      </p:sp>
      <p:pic>
        <p:nvPicPr>
          <p:cNvPr id="3" name="Рисунок 1">
            <a:extLst>
              <a:ext uri="{FF2B5EF4-FFF2-40B4-BE49-F238E27FC236}">
                <a16:creationId xmlns:a16="http://schemas.microsoft.com/office/drawing/2014/main" id="{73E3EBD4-DD7F-F92B-1505-914A1656E30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9097" y="1641329"/>
            <a:ext cx="8319704" cy="4439376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AD78E612-96F6-C262-DBD9-7334D08E22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9EE21E1-07F9-207A-4F5D-95FF6365EFFB}"/>
              </a:ext>
            </a:extLst>
          </p:cNvPr>
          <p:cNvSpPr txBox="1"/>
          <p:nvPr/>
        </p:nvSpPr>
        <p:spPr>
          <a:xfrm>
            <a:off x="8958801" y="1898611"/>
            <a:ext cx="305783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dirty="0"/>
              <a:t>Клієнтська частина складається з набору екранів, модуля навігації та сервісного шару, який формує HTTP-запити до серверного API. </a:t>
            </a:r>
          </a:p>
          <a:p>
            <a:endParaRPr lang="uk-UA" sz="1600" dirty="0"/>
          </a:p>
          <a:p>
            <a:r>
              <a:rPr lang="uk-UA" sz="1600" dirty="0"/>
              <a:t>Серверна частина, реалізована на FastAPI, приймає зображення через ендпоінт /analyze, передає його до модуля обробки зображень (PIL) та модуля генерації UX-проблем (AnalyzerService), після чого повертає структурований JSON-результат клієнту. 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273553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905E7-E63B-6251-BE83-46616EF39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335038-04C4-2F37-F120-36CEA7E67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1024484"/>
            <a:ext cx="10127226" cy="616845"/>
          </a:xfrm>
        </p:spPr>
        <p:txBody>
          <a:bodyPr>
            <a:noAutofit/>
          </a:bodyPr>
          <a:lstStyle/>
          <a:p>
            <a:pPr lvl="1"/>
            <a:r>
              <a:rPr lang="uk-UA" sz="3200" b="1" dirty="0"/>
              <a:t>Освітня складова DesignScout</a:t>
            </a:r>
            <a:endParaRPr lang="" sz="32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D065D93-E430-FDA5-849F-7206C56A8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C91ACC2C-30A4-C90F-9040-47C0E9C5E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FD15416A-4FA5-208F-ACC1-A029E135FCED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5D8C79B-E8A7-8E00-BEA8-77E5214D7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8</a:t>
            </a:fld>
            <a:endParaRPr lang="LID4096"/>
          </a:p>
        </p:txBody>
      </p:sp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66AC3081-B9D7-0F1E-9477-862836D8C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44E96DB-F6BB-5ED0-043F-AD17F72AF5C7}"/>
              </a:ext>
            </a:extLst>
          </p:cNvPr>
          <p:cNvGraphicFramePr>
            <a:graphicFrameLocks noGrp="1"/>
          </p:cNvGraphicFramePr>
          <p:nvPr/>
        </p:nvGraphicFramePr>
        <p:xfrm>
          <a:off x="1597819" y="1916616"/>
          <a:ext cx="6436995" cy="1215264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049145">
                  <a:extLst>
                    <a:ext uri="{9D8B030D-6E8A-4147-A177-3AD203B41FA5}">
                      <a16:colId xmlns:a16="http://schemas.microsoft.com/office/drawing/2014/main" val="723832340"/>
                    </a:ext>
                  </a:extLst>
                </a:gridCol>
                <a:gridCol w="4387850">
                  <a:extLst>
                    <a:ext uri="{9D8B030D-6E8A-4147-A177-3AD203B41FA5}">
                      <a16:colId xmlns:a16="http://schemas.microsoft.com/office/drawing/2014/main" val="2158651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uk-UA" sz="1400" kern="100" dirty="0">
                          <a:effectLst/>
                        </a:rPr>
                        <a:t>Модуль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uk-UA" sz="1400" kern="100" dirty="0">
                          <a:effectLst/>
                        </a:rPr>
                        <a:t>Теми уроків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607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kern="100" dirty="0">
                          <a:effectLst/>
                        </a:rPr>
                        <a:t>Вступ до UX/UI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kern="100" dirty="0">
                          <a:effectLst/>
                        </a:rPr>
                        <a:t>Поняття UX та UI, ролі дизайнера, етапи дизайн-процесу (Design Thinking), патерни мобільної навігації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10168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B06DB3B-AA23-5245-E2E2-F2FF9CD4A2F7}"/>
              </a:ext>
            </a:extLst>
          </p:cNvPr>
          <p:cNvGraphicFramePr>
            <a:graphicFrameLocks noGrp="1"/>
          </p:cNvGraphicFramePr>
          <p:nvPr/>
        </p:nvGraphicFramePr>
        <p:xfrm>
          <a:off x="1597819" y="3131880"/>
          <a:ext cx="6436995" cy="275056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49145">
                  <a:extLst>
                    <a:ext uri="{9D8B030D-6E8A-4147-A177-3AD203B41FA5}">
                      <a16:colId xmlns:a16="http://schemas.microsoft.com/office/drawing/2014/main" val="2689032760"/>
                    </a:ext>
                  </a:extLst>
                </a:gridCol>
                <a:gridCol w="4387850">
                  <a:extLst>
                    <a:ext uri="{9D8B030D-6E8A-4147-A177-3AD203B41FA5}">
                      <a16:colId xmlns:a16="http://schemas.microsoft.com/office/drawing/2014/main" val="3623793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uk-UA" sz="1400" kern="100" dirty="0">
                          <a:effectLst/>
                        </a:rPr>
                        <a:t>Структура та компоновка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kern="100" dirty="0">
                          <a:effectLst/>
                        </a:rPr>
                        <a:t>Візуальна ієрархія, закони Гештальту, сітки та система відступів (8pt Grid), патерни розміщення контенту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7074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kern="100" dirty="0">
                          <a:effectLst/>
                        </a:rPr>
                        <a:t>Навігація та архітектура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kern="100" dirty="0">
                          <a:effectLst/>
                        </a:rPr>
                        <a:t>Інформаційна архітектура, патерни мобільної навігації, User Flow та сценарії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9500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kern="100" dirty="0">
                          <a:effectLst/>
                        </a:rPr>
                        <a:t>Колір, типографіка та UI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kern="100" dirty="0">
                          <a:effectLst/>
                        </a:rPr>
                        <a:t>Теорія кольору, контраст і доступність (WCAG 2.1), основи UI-типографіки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2064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kern="100" dirty="0">
                          <a:effectLst/>
                        </a:rPr>
                        <a:t>Взаємодія та Usability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kern="100" dirty="0">
                          <a:effectLst/>
                        </a:rPr>
                        <a:t>Розміри інтерактивних елементів (Закон Фіттса), дизайн форм, зворотний зв'язок</a:t>
                      </a:r>
                      <a:endParaRPr lang="en-GB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519889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C75452-BEF5-E7C2-ACF6-C7DB9CCF21B1}"/>
              </a:ext>
            </a:extLst>
          </p:cNvPr>
          <p:cNvSpPr txBox="1"/>
          <p:nvPr/>
        </p:nvSpPr>
        <p:spPr>
          <a:xfrm>
            <a:off x="8226620" y="1859568"/>
            <a:ext cx="32135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Кожен урок містить теоретичний блок та інтерактивне практичне завдання, яке дозволяє одразу перевірити, чи зрозумів </a:t>
            </a:r>
            <a:r>
              <a:rPr lang="ru-RU" dirty="0"/>
              <a:t>користувач</a:t>
            </a:r>
            <a:r>
              <a:rPr lang="uk-UA" dirty="0"/>
              <a:t> матеріал.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879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AC46B-867B-BE89-8ADE-91F24D50C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726F59-0376-9AEE-37A2-296771E66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972737"/>
            <a:ext cx="9144000" cy="620089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Приклади найцікавіших методів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602B466-7B3B-CDBA-4869-44CC03BF9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FE322140-ACD1-C868-0495-EA4CE473A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B025DCE6-D8A7-657E-A465-C7B9B864E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EDE7F42B-631C-986F-3313-6E91239AE873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98478E8-74C8-B5C9-0AF5-78A3B3BBE33A}"/>
              </a:ext>
            </a:extLst>
          </p:cNvPr>
          <p:cNvSpPr/>
          <p:nvPr/>
        </p:nvSpPr>
        <p:spPr>
          <a:xfrm>
            <a:off x="639095" y="2261961"/>
            <a:ext cx="9871587" cy="898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Для імітації роботи комп’ютерного зору (</a:t>
            </a:r>
            <a:r>
              <a:rPr lang="uk-UA" dirty="0" err="1"/>
              <a:t>Computer</a:t>
            </a:r>
            <a:r>
              <a:rPr lang="uk-UA" dirty="0"/>
              <a:t> </a:t>
            </a:r>
            <a:r>
              <a:rPr lang="uk-UA" dirty="0" err="1"/>
              <a:t>Vision</a:t>
            </a:r>
            <a:r>
              <a:rPr lang="uk-UA" dirty="0"/>
              <a:t>) розроблено алгоритм стохастичної генерації UX-проблем </a:t>
            </a:r>
            <a:r>
              <a:rPr lang="uk-UA" dirty="0" err="1"/>
              <a:t>generate_realistic_issues</a:t>
            </a:r>
            <a:r>
              <a:rPr lang="uk-UA" dirty="0"/>
              <a:t>.</a:t>
            </a:r>
            <a:endParaRPr lang="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1EE71E1-D3E0-FC77-95FD-585D176ED077}"/>
              </a:ext>
            </a:extLst>
          </p:cNvPr>
          <p:cNvSpPr/>
          <p:nvPr/>
        </p:nvSpPr>
        <p:spPr>
          <a:xfrm>
            <a:off x="639097" y="1693326"/>
            <a:ext cx="11141062" cy="620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2400" dirty="0"/>
              <a:t>Метод програмного імітаційного моделювання поведінки ШІ-системи.</a:t>
            </a:r>
            <a:endParaRPr lang="" sz="24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F155644B-7AD8-7AFC-F7AD-360FFE0CA4BE}"/>
              </a:ext>
            </a:extLst>
          </p:cNvPr>
          <p:cNvSpPr/>
          <p:nvPr/>
        </p:nvSpPr>
        <p:spPr>
          <a:xfrm>
            <a:off x="639095" y="3092787"/>
            <a:ext cx="11141062" cy="898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2400" dirty="0"/>
              <a:t>Автоматизована перевірка на відповідність </a:t>
            </a:r>
            <a:r>
              <a:rPr lang="uk-UA" sz="2400" dirty="0" err="1"/>
              <a:t>евристикам</a:t>
            </a:r>
            <a:r>
              <a:rPr lang="uk-UA" sz="2400" dirty="0"/>
              <a:t> Нільсена та стандартам доступності</a:t>
            </a:r>
            <a:endParaRPr lang="" sz="24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AD79F39-4CD3-954D-6580-FAB00419FBFE}"/>
              </a:ext>
            </a:extLst>
          </p:cNvPr>
          <p:cNvSpPr/>
          <p:nvPr/>
        </p:nvSpPr>
        <p:spPr>
          <a:xfrm>
            <a:off x="639094" y="4015912"/>
            <a:ext cx="7541345" cy="898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Алгоритм використовує словник UX_RULES, який містить базу знань про найпоширеніші помилки.</a:t>
            </a:r>
            <a:endParaRPr lang="" dirty="0"/>
          </a:p>
        </p:txBody>
      </p:sp>
      <p:pic>
        <p:nvPicPr>
          <p:cNvPr id="2050" name="Picture 2" descr="Оценка по эвристикам Якоба Нильсена: ограничения в методике при применении  на практике | by Evgeny Vasilets | Usethics ⭕ doc | Medium">
            <a:extLst>
              <a:ext uri="{FF2B5EF4-FFF2-40B4-BE49-F238E27FC236}">
                <a16:creationId xmlns:a16="http://schemas.microsoft.com/office/drawing/2014/main" id="{46BCA395-9F1A-653D-90B2-96F305FD2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3331" y="3813376"/>
            <a:ext cx="3846826" cy="248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48CA055-A508-9FE2-DB69-7074CF482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0310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82000-ED98-ECA4-79DB-4ECAEE707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04BE9C-7FB5-669A-1BE1-161C34444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972737"/>
            <a:ext cx="9144000" cy="620089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Дизайн розробленого застосунку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A7C9326-74C6-830E-3307-3871D0D5C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13D8FE70-38D0-63C4-99AF-6EECF878E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78E8D149-581B-8CE5-AC19-CEDBF811A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6CBAFC66-A4A3-E620-5199-A89AB788DD16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D8F0B96-33CE-376A-6FC5-BF9077D05F81}"/>
              </a:ext>
            </a:extLst>
          </p:cNvPr>
          <p:cNvSpPr/>
          <p:nvPr/>
        </p:nvSpPr>
        <p:spPr>
          <a:xfrm>
            <a:off x="570270" y="1803563"/>
            <a:ext cx="9871587" cy="15394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З метою забезпечення інклюзивності (Accessibility) в UX-логіку закладено такі принципи:</a:t>
            </a:r>
            <a:endParaRPr lang="" dirty="0"/>
          </a:p>
          <a:p>
            <a:pPr lvl="0"/>
            <a:endParaRPr lang="uk-UA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uk-UA" dirty="0"/>
              <a:t>Сенсорна доступність.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uk-UA" dirty="0"/>
              <a:t>Зворотний зв'язок.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uk-UA" dirty="0"/>
              <a:t>Прогресивне розкриття інформації.</a:t>
            </a:r>
            <a:endParaRPr lang="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04A5A00-C4D5-3C18-30AF-7EBC56B80A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097" y="2198635"/>
            <a:ext cx="1836036" cy="39968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0E7A03B-B382-459E-D4AA-4DF6561ED7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010" y="2668894"/>
            <a:ext cx="1714085" cy="37313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2F5528-A0DA-3173-26CC-912BE40E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39305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98ED5-9808-0208-C603-C8FC9891E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D22FF7-542D-685E-B569-CBC60B55E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972737"/>
            <a:ext cx="9144000" cy="620089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Приклад реалізації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9DBA594-F4BB-D149-CA3C-EE041F6C7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58AFE036-47FC-1BE3-9522-7825DFD85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B1895108-F270-9FC6-809A-08CB7440F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8209E0AF-1808-90AF-80C1-CC559FF7F719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FF59442-10F0-C7D7-C54B-F8AE60CA9EF4}"/>
              </a:ext>
            </a:extLst>
          </p:cNvPr>
          <p:cNvSpPr/>
          <p:nvPr/>
        </p:nvSpPr>
        <p:spPr>
          <a:xfrm>
            <a:off x="639097" y="1672394"/>
            <a:ext cx="9871587" cy="1099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Скріншоти основних екранів: мій профіль, аналіз макету, екран курсів, головний екран.</a:t>
            </a:r>
            <a:endParaRPr lang="" dirty="0"/>
          </a:p>
          <a:p>
            <a:pPr lvl="0"/>
            <a:r>
              <a:rPr lang="uk-UA" dirty="0"/>
              <a:t>На нинішний версії додаток спрямований на навчання базового рівня.</a:t>
            </a:r>
          </a:p>
          <a:p>
            <a:pPr lvl="0"/>
            <a:endParaRPr lang="uk-UA" dirty="0"/>
          </a:p>
          <a:p>
            <a:pPr lvl="0"/>
            <a:r>
              <a:rPr lang="uk-UA" dirty="0"/>
              <a:t>Візуалізація: іконки, прогрес-бар.</a:t>
            </a:r>
            <a:endParaRPr lang="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913F8CC-CB4E-4C0A-9EB7-1FB141E95D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097" y="1096297"/>
            <a:ext cx="2143171" cy="4665406"/>
          </a:xfrm>
          <a:prstGeom prst="roundRect">
            <a:avLst>
              <a:gd name="adj" fmla="val 1207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B69EDB2-E35F-FC3E-5E46-06336022A9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023" y="2272378"/>
            <a:ext cx="2040652" cy="4449097"/>
          </a:xfrm>
          <a:prstGeom prst="roundRect">
            <a:avLst>
              <a:gd name="adj" fmla="val 944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B3DF954-F21D-DC1D-B12B-3C7B279A34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066" y="2621878"/>
            <a:ext cx="1700535" cy="3701845"/>
          </a:xfrm>
          <a:prstGeom prst="roundRect">
            <a:avLst>
              <a:gd name="adj" fmla="val 13198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F282F60-D8F3-8EBF-46F8-F242266725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216" y="2851354"/>
            <a:ext cx="1700535" cy="37018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12704F-D00A-0C06-9E51-2C0CD2489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11</a:t>
            </a:fld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0CA45C-42AD-19A2-E0DF-7A1351786EAB}"/>
              </a:ext>
            </a:extLst>
          </p:cNvPr>
          <p:cNvSpPr/>
          <p:nvPr/>
        </p:nvSpPr>
        <p:spPr>
          <a:xfrm>
            <a:off x="5850194" y="3429000"/>
            <a:ext cx="757083" cy="209912"/>
          </a:xfrm>
          <a:prstGeom prst="rect">
            <a:avLst/>
          </a:prstGeom>
          <a:solidFill>
            <a:srgbClr val="6D28DB"/>
          </a:solidFill>
          <a:ln>
            <a:solidFill>
              <a:srgbClr val="6D28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1751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A9191-44EB-520A-B4F8-046C98506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FAE973-2735-65F3-985D-3E9CCE5EA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972737"/>
            <a:ext cx="9144000" cy="620089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Інтерфейс користувача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4B98DF6-89C3-99B8-44EE-E7CAF01B5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5857C3D7-804B-09D1-923B-1B4A5F652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F36E4C57-3595-D295-88E8-E04800768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15E6F412-836D-A02A-7D7C-DF1803F8CE0F}"/>
              </a:ext>
            </a:extLst>
          </p:cNvPr>
          <p:cNvSpPr/>
          <p:nvPr/>
        </p:nvSpPr>
        <p:spPr>
          <a:xfrm>
            <a:off x="1597819" y="6458231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BCA3616-77F4-B76F-96AB-8E06D69011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819" y="1855610"/>
            <a:ext cx="2040651" cy="44422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C170538-2297-59FE-7504-F45B292065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007" y="1848745"/>
            <a:ext cx="2040652" cy="44490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ADCE54F-06C1-9A05-9040-AFDE2048FE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855" y="1846615"/>
            <a:ext cx="2040652" cy="44422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F78A4A6-C313-6C08-FDF6-E7A6B8FF40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754" y="1855609"/>
            <a:ext cx="2040651" cy="44422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D18A21-2BE5-66AA-91A4-49353E018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1167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1ECF1-2056-EC2F-8D08-249044586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D26E8-FD1C-4235-7029-F3293723C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972738"/>
            <a:ext cx="9144000" cy="669250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Тестування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361F05B-2A67-23C2-6CD8-C01C5FBFF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0614F473-4996-2A13-5DCF-27E75E0CB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C491873C-4111-D185-C160-7E59C3CCE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F32C54E0-AC73-948B-A772-81212323CB83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E4C9E09-7329-2194-ED9B-941D980B9DFD}"/>
              </a:ext>
            </a:extLst>
          </p:cNvPr>
          <p:cNvSpPr/>
          <p:nvPr/>
        </p:nvSpPr>
        <p:spPr>
          <a:xfrm>
            <a:off x="634604" y="2532549"/>
            <a:ext cx="7739100" cy="434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60"/>
              </a:lnSpc>
              <a:buSzPct val="100000"/>
            </a:pPr>
            <a:r>
              <a:rPr lang="uk-UA" dirty="0"/>
              <a:t>Протестовано функціонал аналізу макетів інтерфейсу.</a:t>
            </a:r>
            <a:r>
              <a:rPr lang="uk-UA" sz="2400" kern="0" spc="-36" dirty="0">
                <a:solidFill>
                  <a:srgbClr val="000000">
                    <a:alpha val="99000"/>
                  </a:srgbClr>
                </a:solidFill>
                <a:cs typeface="Times New Roman" pitchFamily="34" charset="-120"/>
              </a:rPr>
              <a:t> </a:t>
            </a:r>
            <a:r>
              <a:rPr lang="uk-UA" kern="0" spc="-36" dirty="0">
                <a:solidFill>
                  <a:srgbClr val="000000">
                    <a:alpha val="99000"/>
                  </a:srgbClr>
                </a:solidFill>
                <a:cs typeface="Times New Roman" pitchFamily="34" charset="-120"/>
              </a:rPr>
              <a:t>Виконано 6 тестів. </a:t>
            </a:r>
            <a:endParaRPr lang="uk-UA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3667D62-133C-9947-CBB3-21820E1BFA31}"/>
              </a:ext>
            </a:extLst>
          </p:cNvPr>
          <p:cNvSpPr/>
          <p:nvPr/>
        </p:nvSpPr>
        <p:spPr>
          <a:xfrm>
            <a:off x="639097" y="2943888"/>
            <a:ext cx="8584675" cy="1369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60"/>
              </a:lnSpc>
              <a:buSzPct val="100000"/>
            </a:pPr>
            <a:r>
              <a:rPr lang="uk-UA" dirty="0"/>
              <a:t>Здійснювався вибір зображення з галереї пристрою, надсилання його на сервер для аналізу та отримання результатів. Перевірялася коректність відображення загальної оцінки дизайну (score), списку виявлених проблем і робота переходу до екрана з результатами.</a:t>
            </a:r>
            <a:endParaRPr lang="uk-UA" sz="2400" kern="0" spc="-36" dirty="0">
              <a:solidFill>
                <a:srgbClr val="000000">
                  <a:alpha val="99000"/>
                </a:srgbClr>
              </a:solidFill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996DDCE-D78E-C0C1-661E-7CD94E776174}"/>
              </a:ext>
            </a:extLst>
          </p:cNvPr>
          <p:cNvSpPr/>
          <p:nvPr/>
        </p:nvSpPr>
        <p:spPr>
          <a:xfrm>
            <a:off x="588822" y="2064338"/>
            <a:ext cx="1114106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Основний підхід можна охарактеризувати як </a:t>
            </a:r>
            <a:r>
              <a:rPr lang="uk-UA" dirty="0" err="1"/>
              <a:t>експлораторне</a:t>
            </a:r>
            <a:r>
              <a:rPr lang="uk-UA" dirty="0"/>
              <a:t> тестування. </a:t>
            </a:r>
            <a:endParaRPr lang="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987E7DD8-68AD-7CD9-5CA8-2EB1E0751231}"/>
              </a:ext>
            </a:extLst>
          </p:cNvPr>
          <p:cNvSpPr/>
          <p:nvPr/>
        </p:nvSpPr>
        <p:spPr>
          <a:xfrm>
            <a:off x="639097" y="4313281"/>
            <a:ext cx="8584675" cy="640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Перевірка на відсутність доступу до галереї пристрою, недоступність сервера аналізу та спробу запустити аналіз без попереднього вибору зображення</a:t>
            </a:r>
            <a:endParaRPr lang="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4EF1E45-7141-827A-57B2-78C1AC26D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6410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C9A94-261F-7728-34B6-2F928D672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ABE90-01B3-01C2-78E3-B33726B9E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972737"/>
            <a:ext cx="9144000" cy="620089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Підсумки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5DDD71E-8466-1410-A15A-0F9900F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4D81A028-810B-1A1E-EE86-2BC430810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262E37F5-DDE1-771C-D6E1-FD6E114E7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664FF5C9-34A9-0A4F-31CE-1D2CEE0164EF}"/>
              </a:ext>
            </a:extLst>
          </p:cNvPr>
          <p:cNvSpPr/>
          <p:nvPr/>
        </p:nvSpPr>
        <p:spPr>
          <a:xfrm>
            <a:off x="1597819" y="6458231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D91C6-0C0D-DE7B-EE40-1B2704C8668F}"/>
              </a:ext>
            </a:extLst>
          </p:cNvPr>
          <p:cNvSpPr txBox="1"/>
          <p:nvPr/>
        </p:nvSpPr>
        <p:spPr>
          <a:xfrm>
            <a:off x="639097" y="1759318"/>
            <a:ext cx="8514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У результаті проведеного аналізу предметної області було досліджено існуючі підходи до навчання UX/UI-дизайну.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764CC-4AFD-97AA-553D-27A289164DBD}"/>
              </a:ext>
            </a:extLst>
          </p:cNvPr>
          <p:cNvSpPr txBox="1"/>
          <p:nvPr/>
        </p:nvSpPr>
        <p:spPr>
          <a:xfrm>
            <a:off x="639097" y="2417494"/>
            <a:ext cx="8514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Розроблено архітектуру застосунку, що складається з клієнтської частини на базі </a:t>
            </a:r>
            <a:r>
              <a:rPr lang="uk-UA" dirty="0" err="1"/>
              <a:t>React</a:t>
            </a:r>
            <a:r>
              <a:rPr lang="uk-UA" dirty="0"/>
              <a:t> </a:t>
            </a:r>
            <a:r>
              <a:rPr lang="uk-UA" dirty="0" err="1"/>
              <a:t>Native</a:t>
            </a:r>
            <a:r>
              <a:rPr lang="uk-UA" dirty="0"/>
              <a:t> (Expo, </a:t>
            </a:r>
            <a:r>
              <a:rPr lang="uk-UA" dirty="0" err="1"/>
              <a:t>TypeScript</a:t>
            </a:r>
            <a:r>
              <a:rPr lang="uk-UA" dirty="0"/>
              <a:t>) та серверної частини на основі </a:t>
            </a:r>
            <a:r>
              <a:rPr lang="uk-UA" dirty="0" err="1"/>
              <a:t>FastAPI</a:t>
            </a:r>
            <a:r>
              <a:rPr lang="uk-UA" dirty="0"/>
              <a:t>.</a:t>
            </a:r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4370D8-C65B-2127-15D2-C9B1FDF506FD}"/>
              </a:ext>
            </a:extLst>
          </p:cNvPr>
          <p:cNvSpPr txBox="1"/>
          <p:nvPr/>
        </p:nvSpPr>
        <p:spPr>
          <a:xfrm>
            <a:off x="639097" y="3105834"/>
            <a:ext cx="8514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Реалізовано інтерфейс для перегляду навчальних матеріалів, проходження тестів, виконання практичних завдань та запуску аналізу макетів інтерфейсу.</a:t>
            </a:r>
            <a:endParaRPr lang="LID4096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36C1CB-0C7C-C643-5936-6438A5DC900B}"/>
              </a:ext>
            </a:extLst>
          </p:cNvPr>
          <p:cNvSpPr txBox="1"/>
          <p:nvPr/>
        </p:nvSpPr>
        <p:spPr>
          <a:xfrm>
            <a:off x="639097" y="3837227"/>
            <a:ext cx="85147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У подальшому планується удосконалення модуля аналізу інтерфейсу через застосування більш складних моделей машинного навчання, інтеграції з онлайн-платформами для зберігання портфоліо дизайнерів, введення рівнів навчання від початкового до професіонального. Також планується введення тарифн</a:t>
            </a:r>
            <a:r>
              <a:rPr lang="ru-RU" dirty="0"/>
              <a:t>их</a:t>
            </a:r>
            <a:r>
              <a:rPr lang="uk-UA" dirty="0"/>
              <a:t> планів(</a:t>
            </a:r>
            <a:r>
              <a:rPr lang="en-US" dirty="0"/>
              <a:t>basic, premium</a:t>
            </a:r>
            <a:r>
              <a:rPr lang="uk-UA" dirty="0"/>
              <a:t>), як частина монетизації.</a:t>
            </a:r>
            <a:endParaRPr lang="" dirty="0"/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6C3DFA6E-5EAC-D463-9BC3-74AA68F14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522" y="3560471"/>
            <a:ext cx="2543413" cy="289776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F0A665D-D6FE-440E-58AD-25D004AC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11958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5BBD4-EC1F-DF35-3A34-0D1D1B72F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3011F8-EB1F-E415-C21F-5A028DB10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4" y="1271002"/>
            <a:ext cx="9871585" cy="514351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Впровадження програмного </a:t>
            </a:r>
            <a:r>
              <a:rPr lang="uk-UA" sz="3600" b="1" dirty="0" err="1"/>
              <a:t>запезпечення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E9515B85-D045-72AB-6995-A57716452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751F8FD0-1E12-74FB-5A65-3DEDD9132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6C7D1A23-F7E1-A22A-6A0D-599C854AF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CE3EDAF4-E8B8-9352-6CC7-38C98C0C81C5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0C75D85-2A5D-DD1F-D6A7-6A958F760998}"/>
              </a:ext>
            </a:extLst>
          </p:cNvPr>
          <p:cNvSpPr/>
          <p:nvPr/>
        </p:nvSpPr>
        <p:spPr>
          <a:xfrm>
            <a:off x="639094" y="2112634"/>
            <a:ext cx="7089061" cy="10926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Результати розробки застосунку </a:t>
            </a:r>
            <a:r>
              <a:rPr lang="uk-UA" dirty="0" err="1"/>
              <a:t>DesignScout</a:t>
            </a:r>
            <a:r>
              <a:rPr lang="uk-UA" dirty="0"/>
              <a:t> були представлені та апробовані в рамках 2-ї Міжнародної науково-практичної конференції «Сучасні інформаційні технології та системи штучного інтелекту MIT&amp;AIS-2026» (м. Харків, 2026 р.) у вигляді тез доповіді. </a:t>
            </a:r>
            <a:endParaRPr lang="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26F77-62BB-6215-4152-D5112F5C2BBB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076822" y="1785353"/>
            <a:ext cx="3299964" cy="4818683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1B41610-120D-7C40-6046-3DFF8705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64371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935</Words>
  <Application>Microsoft Office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Cormorant Garamond</vt:lpstr>
      <vt:lpstr>Inter</vt:lpstr>
      <vt:lpstr>Times New Roman</vt:lpstr>
      <vt:lpstr>Office Theme</vt:lpstr>
      <vt:lpstr>Мобільний застосунок для навчання UX/UI дизайну з функцією автоматизованого ШІ-аналізу інтерфейсів</vt:lpstr>
      <vt:lpstr>Мета роботи</vt:lpstr>
      <vt:lpstr>Аналіз предметної галузі</vt:lpstr>
      <vt:lpstr>Постановка задачі</vt:lpstr>
      <vt:lpstr>Вибір технологій розробки</vt:lpstr>
      <vt:lpstr>Архітектура створенного програмного забезпечення</vt:lpstr>
      <vt:lpstr>UML-проєктування: діаграма компонентів</vt:lpstr>
      <vt:lpstr>Освітня складова DesignScout</vt:lpstr>
      <vt:lpstr>Приклади найцікавіших методів</vt:lpstr>
      <vt:lpstr>Дизайн розробленого застосунку</vt:lpstr>
      <vt:lpstr>Приклад реалізації</vt:lpstr>
      <vt:lpstr>Інтерфейс користувача</vt:lpstr>
      <vt:lpstr>Тестування</vt:lpstr>
      <vt:lpstr>Підсумки</vt:lpstr>
      <vt:lpstr>Впровадження програмного запезпечення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Аліна Таранова</dc:creator>
  <cp:lastModifiedBy>Аліна Таранова</cp:lastModifiedBy>
  <cp:revision>1</cp:revision>
  <dcterms:created xsi:type="dcterms:W3CDTF">2026-07-11T17:44:51Z</dcterms:created>
  <dcterms:modified xsi:type="dcterms:W3CDTF">2026-07-11T17:48:00Z</dcterms:modified>
</cp:coreProperties>
</file>